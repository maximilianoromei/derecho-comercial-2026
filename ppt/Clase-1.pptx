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 id="2147483765" r:id="rId2"/>
  </p:sldMasterIdLst>
  <p:notesMasterIdLst>
    <p:notesMasterId r:id="rId25"/>
  </p:notesMasterIdLst>
  <p:sldIdLst>
    <p:sldId id="256" r:id="rId3"/>
    <p:sldId id="257" r:id="rId4"/>
    <p:sldId id="260" r:id="rId5"/>
    <p:sldId id="261" r:id="rId6"/>
    <p:sldId id="262" r:id="rId7"/>
    <p:sldId id="258" r:id="rId8"/>
    <p:sldId id="263" r:id="rId9"/>
    <p:sldId id="264" r:id="rId10"/>
    <p:sldId id="265" r:id="rId11"/>
    <p:sldId id="259"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4"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963F96-D5BA-46E1-B3DE-7DCFD1747CDC}" type="doc">
      <dgm:prSet loTypeId="urn:microsoft.com/office/officeart/2005/8/layout/process4" loCatId="process" qsTypeId="urn:microsoft.com/office/officeart/2005/8/quickstyle/simple4" qsCatId="simple" csTypeId="urn:microsoft.com/office/officeart/2005/8/colors/accent2_2" csCatId="accent2"/>
      <dgm:spPr/>
      <dgm:t>
        <a:bodyPr/>
        <a:lstStyle/>
        <a:p>
          <a:endParaRPr lang="en-US"/>
        </a:p>
      </dgm:t>
    </dgm:pt>
    <dgm:pt modelId="{1978269A-5509-499B-93C6-03C8F5014E56}">
      <dgm:prSet/>
      <dgm:spPr/>
      <dgm:t>
        <a:bodyPr/>
        <a:lstStyle/>
        <a:p>
          <a:r>
            <a:rPr lang="es-AR"/>
            <a:t>Prior in tempore, potior in iure – Primero en el tiempo mejor en el derecho</a:t>
          </a:r>
          <a:endParaRPr lang="en-US"/>
        </a:p>
      </dgm:t>
    </dgm:pt>
    <dgm:pt modelId="{7912DB05-3F5E-4E18-ACFC-28EFE66D7B2C}" type="parTrans" cxnId="{5B0789EB-D697-4048-B4A5-3902B8E97189}">
      <dgm:prSet/>
      <dgm:spPr/>
      <dgm:t>
        <a:bodyPr/>
        <a:lstStyle/>
        <a:p>
          <a:endParaRPr lang="en-US"/>
        </a:p>
      </dgm:t>
    </dgm:pt>
    <dgm:pt modelId="{2CAA2AB1-461E-4F01-A95B-5D9EF53C0B14}" type="sibTrans" cxnId="{5B0789EB-D697-4048-B4A5-3902B8E97189}">
      <dgm:prSet/>
      <dgm:spPr/>
      <dgm:t>
        <a:bodyPr/>
        <a:lstStyle/>
        <a:p>
          <a:endParaRPr lang="en-US"/>
        </a:p>
      </dgm:t>
    </dgm:pt>
    <dgm:pt modelId="{AF4E4CD5-AD02-4351-B637-D14DC4801BFC}">
      <dgm:prSet/>
      <dgm:spPr/>
      <dgm:t>
        <a:bodyPr/>
        <a:lstStyle/>
        <a:p>
          <a:r>
            <a:rPr lang="es-AR"/>
            <a:t>en caso de bienes insuficientes</a:t>
          </a:r>
          <a:endParaRPr lang="en-US"/>
        </a:p>
      </dgm:t>
    </dgm:pt>
    <dgm:pt modelId="{CF8AE047-9710-42E8-844E-F5FA6F83A7EF}" type="parTrans" cxnId="{EFA76425-D91F-4B9A-B138-C650FBE03B4E}">
      <dgm:prSet/>
      <dgm:spPr/>
      <dgm:t>
        <a:bodyPr/>
        <a:lstStyle/>
        <a:p>
          <a:endParaRPr lang="en-US"/>
        </a:p>
      </dgm:t>
    </dgm:pt>
    <dgm:pt modelId="{5D1EC204-63BD-418A-B771-3EEFF0BF644C}" type="sibTrans" cxnId="{EFA76425-D91F-4B9A-B138-C650FBE03B4E}">
      <dgm:prSet/>
      <dgm:spPr/>
      <dgm:t>
        <a:bodyPr/>
        <a:lstStyle/>
        <a:p>
          <a:endParaRPr lang="en-US"/>
        </a:p>
      </dgm:t>
    </dgm:pt>
    <dgm:pt modelId="{C0EEBA87-F686-4D0A-9425-541763F66D16}">
      <dgm:prSet/>
      <dgm:spPr/>
      <dgm:t>
        <a:bodyPr/>
        <a:lstStyle/>
        <a:p>
          <a:r>
            <a:rPr lang="es-AR"/>
            <a:t>Mecanismo insatisfactorio de tutela jurisdiccional de los acreedores</a:t>
          </a:r>
          <a:endParaRPr lang="en-US"/>
        </a:p>
      </dgm:t>
    </dgm:pt>
    <dgm:pt modelId="{6174C263-EC14-4F76-BE53-9A0C39393AB7}" type="parTrans" cxnId="{3AFCBAFF-5B10-4800-AFB7-1D19C9161AA2}">
      <dgm:prSet/>
      <dgm:spPr/>
      <dgm:t>
        <a:bodyPr/>
        <a:lstStyle/>
        <a:p>
          <a:endParaRPr lang="en-US"/>
        </a:p>
      </dgm:t>
    </dgm:pt>
    <dgm:pt modelId="{61241D58-1DE1-4B8E-AA07-8D96C6D6B01B}" type="sibTrans" cxnId="{3AFCBAFF-5B10-4800-AFB7-1D19C9161AA2}">
      <dgm:prSet/>
      <dgm:spPr/>
      <dgm:t>
        <a:bodyPr/>
        <a:lstStyle/>
        <a:p>
          <a:endParaRPr lang="en-US"/>
        </a:p>
      </dgm:t>
    </dgm:pt>
    <dgm:pt modelId="{2A349265-D662-4071-B865-9837C5AEF02B}">
      <dgm:prSet/>
      <dgm:spPr/>
      <dgm:t>
        <a:bodyPr/>
        <a:lstStyle/>
        <a:p>
          <a:r>
            <a:rPr lang="es-AR"/>
            <a:t>Suelen ser numerosas, dispersas de difícil control</a:t>
          </a:r>
          <a:endParaRPr lang="en-US"/>
        </a:p>
      </dgm:t>
    </dgm:pt>
    <dgm:pt modelId="{248A43D1-921D-4894-B480-3BE59FE3FCA1}" type="parTrans" cxnId="{554ABA33-EF18-44CF-90FC-DF3ACD969DE6}">
      <dgm:prSet/>
      <dgm:spPr/>
      <dgm:t>
        <a:bodyPr/>
        <a:lstStyle/>
        <a:p>
          <a:endParaRPr lang="en-US"/>
        </a:p>
      </dgm:t>
    </dgm:pt>
    <dgm:pt modelId="{120800A0-C36E-4FAE-BDF0-44C2EB75791C}" type="sibTrans" cxnId="{554ABA33-EF18-44CF-90FC-DF3ACD969DE6}">
      <dgm:prSet/>
      <dgm:spPr/>
      <dgm:t>
        <a:bodyPr/>
        <a:lstStyle/>
        <a:p>
          <a:endParaRPr lang="en-US"/>
        </a:p>
      </dgm:t>
    </dgm:pt>
    <dgm:pt modelId="{B9563468-A95B-45D2-8FEB-3107EC4D8521}">
      <dgm:prSet/>
      <dgm:spPr/>
      <dgm:t>
        <a:bodyPr/>
        <a:lstStyle/>
        <a:p>
          <a:r>
            <a:rPr lang="es-AR"/>
            <a:t>Regidas por el principio dispositivo</a:t>
          </a:r>
          <a:endParaRPr lang="en-US"/>
        </a:p>
      </dgm:t>
    </dgm:pt>
    <dgm:pt modelId="{B0B38E00-0396-40A7-A346-0458DEC19312}" type="parTrans" cxnId="{6CBB52C4-EC2C-4CB4-B8B3-DACE56689F8F}">
      <dgm:prSet/>
      <dgm:spPr/>
      <dgm:t>
        <a:bodyPr/>
        <a:lstStyle/>
        <a:p>
          <a:endParaRPr lang="en-US"/>
        </a:p>
      </dgm:t>
    </dgm:pt>
    <dgm:pt modelId="{48B8686D-FCEA-4194-AA36-94A0CA85BE3C}" type="sibTrans" cxnId="{6CBB52C4-EC2C-4CB4-B8B3-DACE56689F8F}">
      <dgm:prSet/>
      <dgm:spPr/>
      <dgm:t>
        <a:bodyPr/>
        <a:lstStyle/>
        <a:p>
          <a:endParaRPr lang="en-US"/>
        </a:p>
      </dgm:t>
    </dgm:pt>
    <dgm:pt modelId="{98E98070-D488-458C-B74D-8ACADB9F6C77}">
      <dgm:prSet/>
      <dgm:spPr/>
      <dgm:t>
        <a:bodyPr/>
        <a:lstStyle/>
        <a:p>
          <a:r>
            <a:rPr lang="es-AR"/>
            <a:t>Acciones disponibles en caso de que el deudor haya transferido sus bienes para eludir su responsabilidad</a:t>
          </a:r>
          <a:endParaRPr lang="en-US"/>
        </a:p>
      </dgm:t>
    </dgm:pt>
    <dgm:pt modelId="{A8139DAD-B9E1-4649-85EF-13BA2F513EAD}" type="parTrans" cxnId="{3B703588-6300-471B-8CC8-B08BFFE13736}">
      <dgm:prSet/>
      <dgm:spPr/>
      <dgm:t>
        <a:bodyPr/>
        <a:lstStyle/>
        <a:p>
          <a:endParaRPr lang="en-US"/>
        </a:p>
      </dgm:t>
    </dgm:pt>
    <dgm:pt modelId="{C1E32F31-BD24-4AC0-AE2A-5B0EF5A3AE43}" type="sibTrans" cxnId="{3B703588-6300-471B-8CC8-B08BFFE13736}">
      <dgm:prSet/>
      <dgm:spPr/>
      <dgm:t>
        <a:bodyPr/>
        <a:lstStyle/>
        <a:p>
          <a:endParaRPr lang="en-US"/>
        </a:p>
      </dgm:t>
    </dgm:pt>
    <dgm:pt modelId="{4871E2A9-E4FA-4B51-8167-D2EA5F150D9B}" type="pres">
      <dgm:prSet presAssocID="{4D963F96-D5BA-46E1-B3DE-7DCFD1747CDC}" presName="Name0" presStyleCnt="0">
        <dgm:presLayoutVars>
          <dgm:dir/>
          <dgm:animLvl val="lvl"/>
          <dgm:resizeHandles val="exact"/>
        </dgm:presLayoutVars>
      </dgm:prSet>
      <dgm:spPr/>
    </dgm:pt>
    <dgm:pt modelId="{D85DE94F-343F-4CEF-8FFA-728DDD9C99B4}" type="pres">
      <dgm:prSet presAssocID="{AF4E4CD5-AD02-4351-B637-D14DC4801BFC}" presName="boxAndChildren" presStyleCnt="0"/>
      <dgm:spPr/>
    </dgm:pt>
    <dgm:pt modelId="{FF4CCF3B-008C-482C-AB49-C1CBAAB17696}" type="pres">
      <dgm:prSet presAssocID="{AF4E4CD5-AD02-4351-B637-D14DC4801BFC}" presName="parentTextBox" presStyleLbl="node1" presStyleIdx="0" presStyleCnt="2"/>
      <dgm:spPr/>
    </dgm:pt>
    <dgm:pt modelId="{C064994B-508F-4D83-9534-0AF0515F6B30}" type="pres">
      <dgm:prSet presAssocID="{AF4E4CD5-AD02-4351-B637-D14DC4801BFC}" presName="entireBox" presStyleLbl="node1" presStyleIdx="0" presStyleCnt="2"/>
      <dgm:spPr/>
    </dgm:pt>
    <dgm:pt modelId="{D4D389FE-6725-472E-B40A-3947B80D8964}" type="pres">
      <dgm:prSet presAssocID="{AF4E4CD5-AD02-4351-B637-D14DC4801BFC}" presName="descendantBox" presStyleCnt="0"/>
      <dgm:spPr/>
    </dgm:pt>
    <dgm:pt modelId="{777941EE-3541-41FB-912B-47A9B31489ED}" type="pres">
      <dgm:prSet presAssocID="{C0EEBA87-F686-4D0A-9425-541763F66D16}" presName="childTextBox" presStyleLbl="fgAccFollowNode1" presStyleIdx="0" presStyleCnt="4">
        <dgm:presLayoutVars>
          <dgm:bulletEnabled val="1"/>
        </dgm:presLayoutVars>
      </dgm:prSet>
      <dgm:spPr/>
    </dgm:pt>
    <dgm:pt modelId="{C9C21FD7-32DF-4C00-BC66-7864675EA3AB}" type="pres">
      <dgm:prSet presAssocID="{2A349265-D662-4071-B865-9837C5AEF02B}" presName="childTextBox" presStyleLbl="fgAccFollowNode1" presStyleIdx="1" presStyleCnt="4">
        <dgm:presLayoutVars>
          <dgm:bulletEnabled val="1"/>
        </dgm:presLayoutVars>
      </dgm:prSet>
      <dgm:spPr/>
    </dgm:pt>
    <dgm:pt modelId="{551358D9-10CC-4A02-8753-405ADC0A2376}" type="pres">
      <dgm:prSet presAssocID="{B9563468-A95B-45D2-8FEB-3107EC4D8521}" presName="childTextBox" presStyleLbl="fgAccFollowNode1" presStyleIdx="2" presStyleCnt="4">
        <dgm:presLayoutVars>
          <dgm:bulletEnabled val="1"/>
        </dgm:presLayoutVars>
      </dgm:prSet>
      <dgm:spPr/>
    </dgm:pt>
    <dgm:pt modelId="{FF75500B-6AF5-40FF-9F58-4552600BA605}" type="pres">
      <dgm:prSet presAssocID="{98E98070-D488-458C-B74D-8ACADB9F6C77}" presName="childTextBox" presStyleLbl="fgAccFollowNode1" presStyleIdx="3" presStyleCnt="4">
        <dgm:presLayoutVars>
          <dgm:bulletEnabled val="1"/>
        </dgm:presLayoutVars>
      </dgm:prSet>
      <dgm:spPr/>
    </dgm:pt>
    <dgm:pt modelId="{187B862A-B9F2-4D13-8865-A0286D711A71}" type="pres">
      <dgm:prSet presAssocID="{2CAA2AB1-461E-4F01-A95B-5D9EF53C0B14}" presName="sp" presStyleCnt="0"/>
      <dgm:spPr/>
    </dgm:pt>
    <dgm:pt modelId="{211E24D4-D779-4B2B-8AEF-D2F47D7AC6F2}" type="pres">
      <dgm:prSet presAssocID="{1978269A-5509-499B-93C6-03C8F5014E56}" presName="arrowAndChildren" presStyleCnt="0"/>
      <dgm:spPr/>
    </dgm:pt>
    <dgm:pt modelId="{70DCC547-FD60-47D7-9A25-40C24CA7B6AB}" type="pres">
      <dgm:prSet presAssocID="{1978269A-5509-499B-93C6-03C8F5014E56}" presName="parentTextArrow" presStyleLbl="node1" presStyleIdx="1" presStyleCnt="2"/>
      <dgm:spPr/>
    </dgm:pt>
  </dgm:ptLst>
  <dgm:cxnLst>
    <dgm:cxn modelId="{ABE0D318-B1A6-4044-866C-6F396C43D30D}" type="presOf" srcId="{B9563468-A95B-45D2-8FEB-3107EC4D8521}" destId="{551358D9-10CC-4A02-8753-405ADC0A2376}" srcOrd="0" destOrd="0" presId="urn:microsoft.com/office/officeart/2005/8/layout/process4"/>
    <dgm:cxn modelId="{EFA76425-D91F-4B9A-B138-C650FBE03B4E}" srcId="{4D963F96-D5BA-46E1-B3DE-7DCFD1747CDC}" destId="{AF4E4CD5-AD02-4351-B637-D14DC4801BFC}" srcOrd="1" destOrd="0" parTransId="{CF8AE047-9710-42E8-844E-F5FA6F83A7EF}" sibTransId="{5D1EC204-63BD-418A-B771-3EEFF0BF644C}"/>
    <dgm:cxn modelId="{554ABA33-EF18-44CF-90FC-DF3ACD969DE6}" srcId="{AF4E4CD5-AD02-4351-B637-D14DC4801BFC}" destId="{2A349265-D662-4071-B865-9837C5AEF02B}" srcOrd="1" destOrd="0" parTransId="{248A43D1-921D-4894-B480-3BE59FE3FCA1}" sibTransId="{120800A0-C36E-4FAE-BDF0-44C2EB75791C}"/>
    <dgm:cxn modelId="{6FA16165-B8EE-4B10-9CD0-7123A7476D68}" type="presOf" srcId="{AF4E4CD5-AD02-4351-B637-D14DC4801BFC}" destId="{FF4CCF3B-008C-482C-AB49-C1CBAAB17696}" srcOrd="0" destOrd="0" presId="urn:microsoft.com/office/officeart/2005/8/layout/process4"/>
    <dgm:cxn modelId="{B2AF596B-3359-4CC9-8BCE-6DB95F9D9BE2}" type="presOf" srcId="{2A349265-D662-4071-B865-9837C5AEF02B}" destId="{C9C21FD7-32DF-4C00-BC66-7864675EA3AB}" srcOrd="0" destOrd="0" presId="urn:microsoft.com/office/officeart/2005/8/layout/process4"/>
    <dgm:cxn modelId="{1E8CD153-783E-4A9D-BF2F-C9CD0CE29C79}" type="presOf" srcId="{4D963F96-D5BA-46E1-B3DE-7DCFD1747CDC}" destId="{4871E2A9-E4FA-4B51-8167-D2EA5F150D9B}" srcOrd="0" destOrd="0" presId="urn:microsoft.com/office/officeart/2005/8/layout/process4"/>
    <dgm:cxn modelId="{5274ED7D-E087-47CD-AB33-691835A9BB98}" type="presOf" srcId="{AF4E4CD5-AD02-4351-B637-D14DC4801BFC}" destId="{C064994B-508F-4D83-9534-0AF0515F6B30}" srcOrd="1" destOrd="0" presId="urn:microsoft.com/office/officeart/2005/8/layout/process4"/>
    <dgm:cxn modelId="{3B703588-6300-471B-8CC8-B08BFFE13736}" srcId="{AF4E4CD5-AD02-4351-B637-D14DC4801BFC}" destId="{98E98070-D488-458C-B74D-8ACADB9F6C77}" srcOrd="3" destOrd="0" parTransId="{A8139DAD-B9E1-4649-85EF-13BA2F513EAD}" sibTransId="{C1E32F31-BD24-4AC0-AE2A-5B0EF5A3AE43}"/>
    <dgm:cxn modelId="{6CBB52C4-EC2C-4CB4-B8B3-DACE56689F8F}" srcId="{AF4E4CD5-AD02-4351-B637-D14DC4801BFC}" destId="{B9563468-A95B-45D2-8FEB-3107EC4D8521}" srcOrd="2" destOrd="0" parTransId="{B0B38E00-0396-40A7-A346-0458DEC19312}" sibTransId="{48B8686D-FCEA-4194-AA36-94A0CA85BE3C}"/>
    <dgm:cxn modelId="{466E87CE-8BF5-4A4C-9286-E6DDC8290FCD}" type="presOf" srcId="{98E98070-D488-458C-B74D-8ACADB9F6C77}" destId="{FF75500B-6AF5-40FF-9F58-4552600BA605}" srcOrd="0" destOrd="0" presId="urn:microsoft.com/office/officeart/2005/8/layout/process4"/>
    <dgm:cxn modelId="{5B0789EB-D697-4048-B4A5-3902B8E97189}" srcId="{4D963F96-D5BA-46E1-B3DE-7DCFD1747CDC}" destId="{1978269A-5509-499B-93C6-03C8F5014E56}" srcOrd="0" destOrd="0" parTransId="{7912DB05-3F5E-4E18-ACFC-28EFE66D7B2C}" sibTransId="{2CAA2AB1-461E-4F01-A95B-5D9EF53C0B14}"/>
    <dgm:cxn modelId="{470FBFF3-DBD6-4EEA-A08C-5123891121DD}" type="presOf" srcId="{1978269A-5509-499B-93C6-03C8F5014E56}" destId="{70DCC547-FD60-47D7-9A25-40C24CA7B6AB}" srcOrd="0" destOrd="0" presId="urn:microsoft.com/office/officeart/2005/8/layout/process4"/>
    <dgm:cxn modelId="{40DEE4F5-7D3D-4168-96BC-ACEC272EF326}" type="presOf" srcId="{C0EEBA87-F686-4D0A-9425-541763F66D16}" destId="{777941EE-3541-41FB-912B-47A9B31489ED}" srcOrd="0" destOrd="0" presId="urn:microsoft.com/office/officeart/2005/8/layout/process4"/>
    <dgm:cxn modelId="{3AFCBAFF-5B10-4800-AFB7-1D19C9161AA2}" srcId="{AF4E4CD5-AD02-4351-B637-D14DC4801BFC}" destId="{C0EEBA87-F686-4D0A-9425-541763F66D16}" srcOrd="0" destOrd="0" parTransId="{6174C263-EC14-4F76-BE53-9A0C39393AB7}" sibTransId="{61241D58-1DE1-4B8E-AA07-8D96C6D6B01B}"/>
    <dgm:cxn modelId="{50A6EF91-C4E1-438A-9301-1AD855A2E893}" type="presParOf" srcId="{4871E2A9-E4FA-4B51-8167-D2EA5F150D9B}" destId="{D85DE94F-343F-4CEF-8FFA-728DDD9C99B4}" srcOrd="0" destOrd="0" presId="urn:microsoft.com/office/officeart/2005/8/layout/process4"/>
    <dgm:cxn modelId="{1E2BD8AF-A0D5-4AA1-B103-85ACE1B2CA30}" type="presParOf" srcId="{D85DE94F-343F-4CEF-8FFA-728DDD9C99B4}" destId="{FF4CCF3B-008C-482C-AB49-C1CBAAB17696}" srcOrd="0" destOrd="0" presId="urn:microsoft.com/office/officeart/2005/8/layout/process4"/>
    <dgm:cxn modelId="{E446A0B0-EB39-4B01-9B72-098D21CE3C83}" type="presParOf" srcId="{D85DE94F-343F-4CEF-8FFA-728DDD9C99B4}" destId="{C064994B-508F-4D83-9534-0AF0515F6B30}" srcOrd="1" destOrd="0" presId="urn:microsoft.com/office/officeart/2005/8/layout/process4"/>
    <dgm:cxn modelId="{1072FB37-1814-42E6-97CF-A16DDB4CEDFC}" type="presParOf" srcId="{D85DE94F-343F-4CEF-8FFA-728DDD9C99B4}" destId="{D4D389FE-6725-472E-B40A-3947B80D8964}" srcOrd="2" destOrd="0" presId="urn:microsoft.com/office/officeart/2005/8/layout/process4"/>
    <dgm:cxn modelId="{BC37A537-94D0-48C2-ACF7-FBF3D60B8530}" type="presParOf" srcId="{D4D389FE-6725-472E-B40A-3947B80D8964}" destId="{777941EE-3541-41FB-912B-47A9B31489ED}" srcOrd="0" destOrd="0" presId="urn:microsoft.com/office/officeart/2005/8/layout/process4"/>
    <dgm:cxn modelId="{9BEFCE27-9255-44DC-A1F0-AE326B8AEB2B}" type="presParOf" srcId="{D4D389FE-6725-472E-B40A-3947B80D8964}" destId="{C9C21FD7-32DF-4C00-BC66-7864675EA3AB}" srcOrd="1" destOrd="0" presId="urn:microsoft.com/office/officeart/2005/8/layout/process4"/>
    <dgm:cxn modelId="{870AFEA8-422F-4C48-8609-A9931FCC87CD}" type="presParOf" srcId="{D4D389FE-6725-472E-B40A-3947B80D8964}" destId="{551358D9-10CC-4A02-8753-405ADC0A2376}" srcOrd="2" destOrd="0" presId="urn:microsoft.com/office/officeart/2005/8/layout/process4"/>
    <dgm:cxn modelId="{7963EEA7-D579-4776-9377-80AE432F7E32}" type="presParOf" srcId="{D4D389FE-6725-472E-B40A-3947B80D8964}" destId="{FF75500B-6AF5-40FF-9F58-4552600BA605}" srcOrd="3" destOrd="0" presId="urn:microsoft.com/office/officeart/2005/8/layout/process4"/>
    <dgm:cxn modelId="{456D6AAD-76F4-4600-B197-6AFAA5EDFFF6}" type="presParOf" srcId="{4871E2A9-E4FA-4B51-8167-D2EA5F150D9B}" destId="{187B862A-B9F2-4D13-8865-A0286D711A71}" srcOrd="1" destOrd="0" presId="urn:microsoft.com/office/officeart/2005/8/layout/process4"/>
    <dgm:cxn modelId="{E80EE3F0-F266-437F-B078-E7A460D7ABA7}" type="presParOf" srcId="{4871E2A9-E4FA-4B51-8167-D2EA5F150D9B}" destId="{211E24D4-D779-4B2B-8AEF-D2F47D7AC6F2}" srcOrd="2" destOrd="0" presId="urn:microsoft.com/office/officeart/2005/8/layout/process4"/>
    <dgm:cxn modelId="{E4225A9F-BEE8-49EE-9011-5113457FBE7D}" type="presParOf" srcId="{211E24D4-D779-4B2B-8AEF-D2F47D7AC6F2}" destId="{70DCC547-FD60-47D7-9A25-40C24CA7B6AB}"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084E95-1670-4C34-9D4D-726AF2DAF409}"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2A763986-F69C-4AF2-A323-716721C26739}">
      <dgm:prSet/>
      <dgm:spPr/>
      <dgm:t>
        <a:bodyPr/>
        <a:lstStyle/>
        <a:p>
          <a:r>
            <a:rPr lang="es-AR"/>
            <a:t>Universalidad – objetiva y subjetiva</a:t>
          </a:r>
          <a:endParaRPr lang="en-US"/>
        </a:p>
      </dgm:t>
    </dgm:pt>
    <dgm:pt modelId="{F3FD006D-F46C-415F-B2AA-5FEC3BE842CB}" type="parTrans" cxnId="{28598875-C8A5-4834-8849-A9F67B678985}">
      <dgm:prSet/>
      <dgm:spPr/>
      <dgm:t>
        <a:bodyPr/>
        <a:lstStyle/>
        <a:p>
          <a:endParaRPr lang="en-US"/>
        </a:p>
      </dgm:t>
    </dgm:pt>
    <dgm:pt modelId="{F14ACD46-CFE2-4980-A196-6A6559F4F3DC}" type="sibTrans" cxnId="{28598875-C8A5-4834-8849-A9F67B678985}">
      <dgm:prSet/>
      <dgm:spPr/>
      <dgm:t>
        <a:bodyPr/>
        <a:lstStyle/>
        <a:p>
          <a:endParaRPr lang="en-US"/>
        </a:p>
      </dgm:t>
    </dgm:pt>
    <dgm:pt modelId="{1CFAC6D9-DD54-4A94-B8FC-5CA5C5BD42E2}">
      <dgm:prSet/>
      <dgm:spPr/>
      <dgm:t>
        <a:bodyPr/>
        <a:lstStyle/>
        <a:p>
          <a:r>
            <a:rPr lang="es-AR"/>
            <a:t>Pars conditio creditorum - Igualdad</a:t>
          </a:r>
          <a:endParaRPr lang="en-US"/>
        </a:p>
      </dgm:t>
    </dgm:pt>
    <dgm:pt modelId="{E1805ED8-FC8E-4C34-A1E5-1C16B41A2CC7}" type="parTrans" cxnId="{3A22C245-FE1D-4E12-A28E-32654E867DC1}">
      <dgm:prSet/>
      <dgm:spPr/>
      <dgm:t>
        <a:bodyPr/>
        <a:lstStyle/>
        <a:p>
          <a:endParaRPr lang="en-US"/>
        </a:p>
      </dgm:t>
    </dgm:pt>
    <dgm:pt modelId="{4EF9B763-A031-4394-A72F-23FEE016F817}" type="sibTrans" cxnId="{3A22C245-FE1D-4E12-A28E-32654E867DC1}">
      <dgm:prSet/>
      <dgm:spPr/>
      <dgm:t>
        <a:bodyPr/>
        <a:lstStyle/>
        <a:p>
          <a:endParaRPr lang="en-US"/>
        </a:p>
      </dgm:t>
    </dgm:pt>
    <dgm:pt modelId="{571BD596-756D-4B2B-AAAA-E5FBB417A915}">
      <dgm:prSet/>
      <dgm:spPr/>
      <dgm:t>
        <a:bodyPr/>
        <a:lstStyle/>
        <a:p>
          <a:r>
            <a:rPr lang="es-AR"/>
            <a:t>Proceso único - Unicidad</a:t>
          </a:r>
          <a:endParaRPr lang="en-US"/>
        </a:p>
      </dgm:t>
    </dgm:pt>
    <dgm:pt modelId="{733FE71B-0857-4A84-AC9E-DD20959F3378}" type="parTrans" cxnId="{64BD94BC-F7ED-4219-BE37-29400F3C04A4}">
      <dgm:prSet/>
      <dgm:spPr/>
      <dgm:t>
        <a:bodyPr/>
        <a:lstStyle/>
        <a:p>
          <a:endParaRPr lang="en-US"/>
        </a:p>
      </dgm:t>
    </dgm:pt>
    <dgm:pt modelId="{5E5F9E2B-8FB6-4941-97E6-53ED3C45F50F}" type="sibTrans" cxnId="{64BD94BC-F7ED-4219-BE37-29400F3C04A4}">
      <dgm:prSet/>
      <dgm:spPr/>
      <dgm:t>
        <a:bodyPr/>
        <a:lstStyle/>
        <a:p>
          <a:endParaRPr lang="en-US"/>
        </a:p>
      </dgm:t>
    </dgm:pt>
    <dgm:pt modelId="{D4F1B86D-73C4-4E6D-B858-1671F887B9F5}">
      <dgm:prSet/>
      <dgm:spPr/>
      <dgm:t>
        <a:bodyPr/>
        <a:lstStyle/>
        <a:p>
          <a:r>
            <a:rPr lang="es-AR"/>
            <a:t>Facilita la recomposición del patrimonio del fallido</a:t>
          </a:r>
          <a:endParaRPr lang="en-US"/>
        </a:p>
      </dgm:t>
    </dgm:pt>
    <dgm:pt modelId="{628C7E59-AAD1-44A1-BB69-03C7F163A30B}" type="parTrans" cxnId="{5B3E6B67-58EC-4AFB-B5B5-EE16FE594A5D}">
      <dgm:prSet/>
      <dgm:spPr/>
      <dgm:t>
        <a:bodyPr/>
        <a:lstStyle/>
        <a:p>
          <a:endParaRPr lang="en-US"/>
        </a:p>
      </dgm:t>
    </dgm:pt>
    <dgm:pt modelId="{C565A942-BB2B-479B-A3D3-416A73B79276}" type="sibTrans" cxnId="{5B3E6B67-58EC-4AFB-B5B5-EE16FE594A5D}">
      <dgm:prSet/>
      <dgm:spPr/>
      <dgm:t>
        <a:bodyPr/>
        <a:lstStyle/>
        <a:p>
          <a:endParaRPr lang="en-US"/>
        </a:p>
      </dgm:t>
    </dgm:pt>
    <dgm:pt modelId="{11DA6BC6-EE79-4DAA-B9DB-95F9D996997C}" type="pres">
      <dgm:prSet presAssocID="{06084E95-1670-4C34-9D4D-726AF2DAF409}" presName="linear" presStyleCnt="0">
        <dgm:presLayoutVars>
          <dgm:animLvl val="lvl"/>
          <dgm:resizeHandles val="exact"/>
        </dgm:presLayoutVars>
      </dgm:prSet>
      <dgm:spPr/>
    </dgm:pt>
    <dgm:pt modelId="{619318A9-CA78-49EF-90E6-56C3CA136B45}" type="pres">
      <dgm:prSet presAssocID="{2A763986-F69C-4AF2-A323-716721C26739}" presName="parentText" presStyleLbl="node1" presStyleIdx="0" presStyleCnt="4">
        <dgm:presLayoutVars>
          <dgm:chMax val="0"/>
          <dgm:bulletEnabled val="1"/>
        </dgm:presLayoutVars>
      </dgm:prSet>
      <dgm:spPr/>
    </dgm:pt>
    <dgm:pt modelId="{0043E8AE-7FDF-4C26-A6D5-6EA9B75A05A0}" type="pres">
      <dgm:prSet presAssocID="{F14ACD46-CFE2-4980-A196-6A6559F4F3DC}" presName="spacer" presStyleCnt="0"/>
      <dgm:spPr/>
    </dgm:pt>
    <dgm:pt modelId="{9D1D574E-D683-4540-A1D7-0467646AB248}" type="pres">
      <dgm:prSet presAssocID="{1CFAC6D9-DD54-4A94-B8FC-5CA5C5BD42E2}" presName="parentText" presStyleLbl="node1" presStyleIdx="1" presStyleCnt="4">
        <dgm:presLayoutVars>
          <dgm:chMax val="0"/>
          <dgm:bulletEnabled val="1"/>
        </dgm:presLayoutVars>
      </dgm:prSet>
      <dgm:spPr/>
    </dgm:pt>
    <dgm:pt modelId="{4ECEF8E6-4B0B-4981-8770-FA67567DA757}" type="pres">
      <dgm:prSet presAssocID="{4EF9B763-A031-4394-A72F-23FEE016F817}" presName="spacer" presStyleCnt="0"/>
      <dgm:spPr/>
    </dgm:pt>
    <dgm:pt modelId="{8EEF79BC-AFC6-4AC4-B5D4-F4CCC3CADBBD}" type="pres">
      <dgm:prSet presAssocID="{571BD596-756D-4B2B-AAAA-E5FBB417A915}" presName="parentText" presStyleLbl="node1" presStyleIdx="2" presStyleCnt="4">
        <dgm:presLayoutVars>
          <dgm:chMax val="0"/>
          <dgm:bulletEnabled val="1"/>
        </dgm:presLayoutVars>
      </dgm:prSet>
      <dgm:spPr/>
    </dgm:pt>
    <dgm:pt modelId="{5E167BB7-E111-4789-988A-08BFC8C7DE98}" type="pres">
      <dgm:prSet presAssocID="{5E5F9E2B-8FB6-4941-97E6-53ED3C45F50F}" presName="spacer" presStyleCnt="0"/>
      <dgm:spPr/>
    </dgm:pt>
    <dgm:pt modelId="{F68460FB-4879-4925-A7B1-213BFDF39F77}" type="pres">
      <dgm:prSet presAssocID="{D4F1B86D-73C4-4E6D-B858-1671F887B9F5}" presName="parentText" presStyleLbl="node1" presStyleIdx="3" presStyleCnt="4">
        <dgm:presLayoutVars>
          <dgm:chMax val="0"/>
          <dgm:bulletEnabled val="1"/>
        </dgm:presLayoutVars>
      </dgm:prSet>
      <dgm:spPr/>
    </dgm:pt>
  </dgm:ptLst>
  <dgm:cxnLst>
    <dgm:cxn modelId="{16BB1700-9327-4D0B-B643-2629351313AC}" type="presOf" srcId="{2A763986-F69C-4AF2-A323-716721C26739}" destId="{619318A9-CA78-49EF-90E6-56C3CA136B45}" srcOrd="0" destOrd="0" presId="urn:microsoft.com/office/officeart/2005/8/layout/vList2"/>
    <dgm:cxn modelId="{58CE2926-F735-4C74-A493-54F2D78A2698}" type="presOf" srcId="{1CFAC6D9-DD54-4A94-B8FC-5CA5C5BD42E2}" destId="{9D1D574E-D683-4540-A1D7-0467646AB248}" srcOrd="0" destOrd="0" presId="urn:microsoft.com/office/officeart/2005/8/layout/vList2"/>
    <dgm:cxn modelId="{3A22C245-FE1D-4E12-A28E-32654E867DC1}" srcId="{06084E95-1670-4C34-9D4D-726AF2DAF409}" destId="{1CFAC6D9-DD54-4A94-B8FC-5CA5C5BD42E2}" srcOrd="1" destOrd="0" parTransId="{E1805ED8-FC8E-4C34-A1E5-1C16B41A2CC7}" sibTransId="{4EF9B763-A031-4394-A72F-23FEE016F817}"/>
    <dgm:cxn modelId="{5B3E6B67-58EC-4AFB-B5B5-EE16FE594A5D}" srcId="{06084E95-1670-4C34-9D4D-726AF2DAF409}" destId="{D4F1B86D-73C4-4E6D-B858-1671F887B9F5}" srcOrd="3" destOrd="0" parTransId="{628C7E59-AAD1-44A1-BB69-03C7F163A30B}" sibTransId="{C565A942-BB2B-479B-A3D3-416A73B79276}"/>
    <dgm:cxn modelId="{80ED9750-2710-40BA-90B2-C44A5F6FC81E}" type="presOf" srcId="{571BD596-756D-4B2B-AAAA-E5FBB417A915}" destId="{8EEF79BC-AFC6-4AC4-B5D4-F4CCC3CADBBD}" srcOrd="0" destOrd="0" presId="urn:microsoft.com/office/officeart/2005/8/layout/vList2"/>
    <dgm:cxn modelId="{28598875-C8A5-4834-8849-A9F67B678985}" srcId="{06084E95-1670-4C34-9D4D-726AF2DAF409}" destId="{2A763986-F69C-4AF2-A323-716721C26739}" srcOrd="0" destOrd="0" parTransId="{F3FD006D-F46C-415F-B2AA-5FEC3BE842CB}" sibTransId="{F14ACD46-CFE2-4980-A196-6A6559F4F3DC}"/>
    <dgm:cxn modelId="{2A0B185A-9032-4ABA-AA4F-4C8C2FA58617}" type="presOf" srcId="{06084E95-1670-4C34-9D4D-726AF2DAF409}" destId="{11DA6BC6-EE79-4DAA-B9DB-95F9D996997C}" srcOrd="0" destOrd="0" presId="urn:microsoft.com/office/officeart/2005/8/layout/vList2"/>
    <dgm:cxn modelId="{29C33D9D-126F-4504-9F98-8F24D50DA5A9}" type="presOf" srcId="{D4F1B86D-73C4-4E6D-B858-1671F887B9F5}" destId="{F68460FB-4879-4925-A7B1-213BFDF39F77}" srcOrd="0" destOrd="0" presId="urn:microsoft.com/office/officeart/2005/8/layout/vList2"/>
    <dgm:cxn modelId="{64BD94BC-F7ED-4219-BE37-29400F3C04A4}" srcId="{06084E95-1670-4C34-9D4D-726AF2DAF409}" destId="{571BD596-756D-4B2B-AAAA-E5FBB417A915}" srcOrd="2" destOrd="0" parTransId="{733FE71B-0857-4A84-AC9E-DD20959F3378}" sibTransId="{5E5F9E2B-8FB6-4941-97E6-53ED3C45F50F}"/>
    <dgm:cxn modelId="{A164B089-A825-446A-AB0E-65E0874EB6E2}" type="presParOf" srcId="{11DA6BC6-EE79-4DAA-B9DB-95F9D996997C}" destId="{619318A9-CA78-49EF-90E6-56C3CA136B45}" srcOrd="0" destOrd="0" presId="urn:microsoft.com/office/officeart/2005/8/layout/vList2"/>
    <dgm:cxn modelId="{9129DBB5-8D23-4C4D-8180-9BCDA9CDB67E}" type="presParOf" srcId="{11DA6BC6-EE79-4DAA-B9DB-95F9D996997C}" destId="{0043E8AE-7FDF-4C26-A6D5-6EA9B75A05A0}" srcOrd="1" destOrd="0" presId="urn:microsoft.com/office/officeart/2005/8/layout/vList2"/>
    <dgm:cxn modelId="{F36298C6-96B6-4549-8DB4-2B6DC0BB0317}" type="presParOf" srcId="{11DA6BC6-EE79-4DAA-B9DB-95F9D996997C}" destId="{9D1D574E-D683-4540-A1D7-0467646AB248}" srcOrd="2" destOrd="0" presId="urn:microsoft.com/office/officeart/2005/8/layout/vList2"/>
    <dgm:cxn modelId="{E12357B6-04B6-4547-853C-865278EB23E8}" type="presParOf" srcId="{11DA6BC6-EE79-4DAA-B9DB-95F9D996997C}" destId="{4ECEF8E6-4B0B-4981-8770-FA67567DA757}" srcOrd="3" destOrd="0" presId="urn:microsoft.com/office/officeart/2005/8/layout/vList2"/>
    <dgm:cxn modelId="{41229FF0-1283-4ED9-B5C6-DB90F8A0C734}" type="presParOf" srcId="{11DA6BC6-EE79-4DAA-B9DB-95F9D996997C}" destId="{8EEF79BC-AFC6-4AC4-B5D4-F4CCC3CADBBD}" srcOrd="4" destOrd="0" presId="urn:microsoft.com/office/officeart/2005/8/layout/vList2"/>
    <dgm:cxn modelId="{BDBA0C89-79BE-48B4-A40C-72019F78B6BD}" type="presParOf" srcId="{11DA6BC6-EE79-4DAA-B9DB-95F9D996997C}" destId="{5E167BB7-E111-4789-988A-08BFC8C7DE98}" srcOrd="5" destOrd="0" presId="urn:microsoft.com/office/officeart/2005/8/layout/vList2"/>
    <dgm:cxn modelId="{79A87CFE-D32E-43AC-B99C-178D24A97AF5}" type="presParOf" srcId="{11DA6BC6-EE79-4DAA-B9DB-95F9D996997C}" destId="{F68460FB-4879-4925-A7B1-213BFDF39F7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1C06B7-6EE4-4A81-9372-E9D8090D0302}" type="doc">
      <dgm:prSet loTypeId="urn:microsoft.com/office/officeart/2005/8/layout/vList2" loCatId="list" qsTypeId="urn:microsoft.com/office/officeart/2005/8/quickstyle/simple4" qsCatId="simple" csTypeId="urn:microsoft.com/office/officeart/2005/8/colors/accent2_2" csCatId="accent2"/>
      <dgm:spPr/>
      <dgm:t>
        <a:bodyPr/>
        <a:lstStyle/>
        <a:p>
          <a:endParaRPr lang="en-US"/>
        </a:p>
      </dgm:t>
    </dgm:pt>
    <dgm:pt modelId="{79CAED58-D61E-447C-A59F-55869A5C773D}">
      <dgm:prSet/>
      <dgm:spPr/>
      <dgm:t>
        <a:bodyPr/>
        <a:lstStyle/>
        <a:p>
          <a:r>
            <a:rPr lang="es-AR"/>
            <a:t>Universalidad</a:t>
          </a:r>
          <a:endParaRPr lang="en-US"/>
        </a:p>
      </dgm:t>
    </dgm:pt>
    <dgm:pt modelId="{A05CFDB8-F4FE-4FFC-A0C7-1EF14A314823}" type="parTrans" cxnId="{F358A261-4620-41BC-9867-5ED8B8A1BA17}">
      <dgm:prSet/>
      <dgm:spPr/>
      <dgm:t>
        <a:bodyPr/>
        <a:lstStyle/>
        <a:p>
          <a:endParaRPr lang="en-US"/>
        </a:p>
      </dgm:t>
    </dgm:pt>
    <dgm:pt modelId="{32F72E18-3506-4405-809A-5C766F42D400}" type="sibTrans" cxnId="{F358A261-4620-41BC-9867-5ED8B8A1BA17}">
      <dgm:prSet/>
      <dgm:spPr/>
      <dgm:t>
        <a:bodyPr/>
        <a:lstStyle/>
        <a:p>
          <a:endParaRPr lang="en-US"/>
        </a:p>
      </dgm:t>
    </dgm:pt>
    <dgm:pt modelId="{C1D615E7-97FD-4DBB-A3DA-392D4316ACA4}">
      <dgm:prSet/>
      <dgm:spPr/>
      <dgm:t>
        <a:bodyPr/>
        <a:lstStyle/>
        <a:p>
          <a:r>
            <a:rPr lang="es-AR"/>
            <a:t>Objetiva</a:t>
          </a:r>
          <a:endParaRPr lang="en-US"/>
        </a:p>
      </dgm:t>
    </dgm:pt>
    <dgm:pt modelId="{61BF3B39-269D-43FD-8AE1-72546D119B88}" type="parTrans" cxnId="{4F9ED26F-85C8-4266-8B73-AFAFE417D7A6}">
      <dgm:prSet/>
      <dgm:spPr/>
      <dgm:t>
        <a:bodyPr/>
        <a:lstStyle/>
        <a:p>
          <a:endParaRPr lang="en-US"/>
        </a:p>
      </dgm:t>
    </dgm:pt>
    <dgm:pt modelId="{BDFD227E-1FDA-4B3D-8593-0AE5ED8B6782}" type="sibTrans" cxnId="{4F9ED26F-85C8-4266-8B73-AFAFE417D7A6}">
      <dgm:prSet/>
      <dgm:spPr/>
      <dgm:t>
        <a:bodyPr/>
        <a:lstStyle/>
        <a:p>
          <a:endParaRPr lang="en-US"/>
        </a:p>
      </dgm:t>
    </dgm:pt>
    <dgm:pt modelId="{A26D8227-630A-4E6A-8197-CBC9A99DC431}">
      <dgm:prSet/>
      <dgm:spPr/>
      <dgm:t>
        <a:bodyPr/>
        <a:lstStyle/>
        <a:p>
          <a:r>
            <a:rPr lang="es-AR"/>
            <a:t>Subjetiva</a:t>
          </a:r>
          <a:endParaRPr lang="en-US"/>
        </a:p>
      </dgm:t>
    </dgm:pt>
    <dgm:pt modelId="{E9D560D0-C449-4D22-932B-8961B8D11B36}" type="parTrans" cxnId="{9107D7EC-93BB-4C55-8D33-16B448BE1EC0}">
      <dgm:prSet/>
      <dgm:spPr/>
      <dgm:t>
        <a:bodyPr/>
        <a:lstStyle/>
        <a:p>
          <a:endParaRPr lang="en-US"/>
        </a:p>
      </dgm:t>
    </dgm:pt>
    <dgm:pt modelId="{FBE29369-DCAF-4512-8DAA-B44473B4E49B}" type="sibTrans" cxnId="{9107D7EC-93BB-4C55-8D33-16B448BE1EC0}">
      <dgm:prSet/>
      <dgm:spPr/>
      <dgm:t>
        <a:bodyPr/>
        <a:lstStyle/>
        <a:p>
          <a:endParaRPr lang="en-US"/>
        </a:p>
      </dgm:t>
    </dgm:pt>
    <dgm:pt modelId="{AA6D07F0-F625-4207-BA3F-9058DA08B12D}">
      <dgm:prSet/>
      <dgm:spPr/>
      <dgm:t>
        <a:bodyPr/>
        <a:lstStyle/>
        <a:p>
          <a:r>
            <a:rPr lang="es-AR"/>
            <a:t>Unicidad</a:t>
          </a:r>
          <a:endParaRPr lang="en-US"/>
        </a:p>
      </dgm:t>
    </dgm:pt>
    <dgm:pt modelId="{BC52DE69-8236-4776-A99F-D57EB9397D78}" type="parTrans" cxnId="{5B3B75F7-AFCF-4C57-9C58-7A1C98B27DD2}">
      <dgm:prSet/>
      <dgm:spPr/>
      <dgm:t>
        <a:bodyPr/>
        <a:lstStyle/>
        <a:p>
          <a:endParaRPr lang="en-US"/>
        </a:p>
      </dgm:t>
    </dgm:pt>
    <dgm:pt modelId="{F8A6314C-5C8B-4D0F-9191-2FAACB5960F2}" type="sibTrans" cxnId="{5B3B75F7-AFCF-4C57-9C58-7A1C98B27DD2}">
      <dgm:prSet/>
      <dgm:spPr/>
      <dgm:t>
        <a:bodyPr/>
        <a:lstStyle/>
        <a:p>
          <a:endParaRPr lang="en-US"/>
        </a:p>
      </dgm:t>
    </dgm:pt>
    <dgm:pt modelId="{5D670C05-391E-40E0-A4FA-D5DFF0FF8D7E}">
      <dgm:prSet/>
      <dgm:spPr/>
      <dgm:t>
        <a:bodyPr/>
        <a:lstStyle/>
        <a:p>
          <a:r>
            <a:rPr lang="es-AR"/>
            <a:t>Inquisitoriedad relativa</a:t>
          </a:r>
          <a:endParaRPr lang="en-US"/>
        </a:p>
      </dgm:t>
    </dgm:pt>
    <dgm:pt modelId="{395135D6-BB54-4C70-89E6-ED8C569FDC97}" type="parTrans" cxnId="{C26D1F35-3A29-4359-9669-433981D025D4}">
      <dgm:prSet/>
      <dgm:spPr/>
      <dgm:t>
        <a:bodyPr/>
        <a:lstStyle/>
        <a:p>
          <a:endParaRPr lang="en-US"/>
        </a:p>
      </dgm:t>
    </dgm:pt>
    <dgm:pt modelId="{8E8FE5D3-0FF7-4886-911A-975F53417604}" type="sibTrans" cxnId="{C26D1F35-3A29-4359-9669-433981D025D4}">
      <dgm:prSet/>
      <dgm:spPr/>
      <dgm:t>
        <a:bodyPr/>
        <a:lstStyle/>
        <a:p>
          <a:endParaRPr lang="en-US"/>
        </a:p>
      </dgm:t>
    </dgm:pt>
    <dgm:pt modelId="{E4D54C6A-FF2C-462E-B870-21748E2DF3A7}">
      <dgm:prSet/>
      <dgm:spPr/>
      <dgm:t>
        <a:bodyPr/>
        <a:lstStyle/>
        <a:p>
          <a:r>
            <a:rPr lang="es-AR"/>
            <a:t>Inquisitoriedad en el proceso – art. 274</a:t>
          </a:r>
          <a:endParaRPr lang="en-US"/>
        </a:p>
      </dgm:t>
    </dgm:pt>
    <dgm:pt modelId="{7F70F37A-5CB7-4E8C-941B-E381EE0F0F37}" type="parTrans" cxnId="{D30C654C-67A4-4569-B1D2-F0794DC848C5}">
      <dgm:prSet/>
      <dgm:spPr/>
      <dgm:t>
        <a:bodyPr/>
        <a:lstStyle/>
        <a:p>
          <a:endParaRPr lang="en-US"/>
        </a:p>
      </dgm:t>
    </dgm:pt>
    <dgm:pt modelId="{0187786B-B53B-45FA-AA92-0A91A9810F29}" type="sibTrans" cxnId="{D30C654C-67A4-4569-B1D2-F0794DC848C5}">
      <dgm:prSet/>
      <dgm:spPr/>
      <dgm:t>
        <a:bodyPr/>
        <a:lstStyle/>
        <a:p>
          <a:endParaRPr lang="en-US"/>
        </a:p>
      </dgm:t>
    </dgm:pt>
    <dgm:pt modelId="{F007FF00-85CC-4113-8A12-498A5D879B48}" type="pres">
      <dgm:prSet presAssocID="{911C06B7-6EE4-4A81-9372-E9D8090D0302}" presName="linear" presStyleCnt="0">
        <dgm:presLayoutVars>
          <dgm:animLvl val="lvl"/>
          <dgm:resizeHandles val="exact"/>
        </dgm:presLayoutVars>
      </dgm:prSet>
      <dgm:spPr/>
    </dgm:pt>
    <dgm:pt modelId="{A29CF0FF-F630-4E4E-AAE4-4D0AA1F58152}" type="pres">
      <dgm:prSet presAssocID="{79CAED58-D61E-447C-A59F-55869A5C773D}" presName="parentText" presStyleLbl="node1" presStyleIdx="0" presStyleCnt="3">
        <dgm:presLayoutVars>
          <dgm:chMax val="0"/>
          <dgm:bulletEnabled val="1"/>
        </dgm:presLayoutVars>
      </dgm:prSet>
      <dgm:spPr/>
    </dgm:pt>
    <dgm:pt modelId="{7DBB823B-16F6-4619-B870-62DFA8B8C724}" type="pres">
      <dgm:prSet presAssocID="{79CAED58-D61E-447C-A59F-55869A5C773D}" presName="childText" presStyleLbl="revTx" presStyleIdx="0" presStyleCnt="2">
        <dgm:presLayoutVars>
          <dgm:bulletEnabled val="1"/>
        </dgm:presLayoutVars>
      </dgm:prSet>
      <dgm:spPr/>
    </dgm:pt>
    <dgm:pt modelId="{3856794B-DBF1-4062-AA34-64EC546BD75E}" type="pres">
      <dgm:prSet presAssocID="{AA6D07F0-F625-4207-BA3F-9058DA08B12D}" presName="parentText" presStyleLbl="node1" presStyleIdx="1" presStyleCnt="3">
        <dgm:presLayoutVars>
          <dgm:chMax val="0"/>
          <dgm:bulletEnabled val="1"/>
        </dgm:presLayoutVars>
      </dgm:prSet>
      <dgm:spPr/>
    </dgm:pt>
    <dgm:pt modelId="{0A47FACB-3450-4416-9769-4330DF2731AE}" type="pres">
      <dgm:prSet presAssocID="{F8A6314C-5C8B-4D0F-9191-2FAACB5960F2}" presName="spacer" presStyleCnt="0"/>
      <dgm:spPr/>
    </dgm:pt>
    <dgm:pt modelId="{42F8FFDC-8F15-4527-8B45-39CE297D96AC}" type="pres">
      <dgm:prSet presAssocID="{5D670C05-391E-40E0-A4FA-D5DFF0FF8D7E}" presName="parentText" presStyleLbl="node1" presStyleIdx="2" presStyleCnt="3">
        <dgm:presLayoutVars>
          <dgm:chMax val="0"/>
          <dgm:bulletEnabled val="1"/>
        </dgm:presLayoutVars>
      </dgm:prSet>
      <dgm:spPr/>
    </dgm:pt>
    <dgm:pt modelId="{52467EF3-0CE0-4B6F-AB1D-F4E7E42631AE}" type="pres">
      <dgm:prSet presAssocID="{5D670C05-391E-40E0-A4FA-D5DFF0FF8D7E}" presName="childText" presStyleLbl="revTx" presStyleIdx="1" presStyleCnt="2">
        <dgm:presLayoutVars>
          <dgm:bulletEnabled val="1"/>
        </dgm:presLayoutVars>
      </dgm:prSet>
      <dgm:spPr/>
    </dgm:pt>
  </dgm:ptLst>
  <dgm:cxnLst>
    <dgm:cxn modelId="{617F5B0D-55FC-4B86-B76A-C252207B53DE}" type="presOf" srcId="{AA6D07F0-F625-4207-BA3F-9058DA08B12D}" destId="{3856794B-DBF1-4062-AA34-64EC546BD75E}" srcOrd="0" destOrd="0" presId="urn:microsoft.com/office/officeart/2005/8/layout/vList2"/>
    <dgm:cxn modelId="{C26D1F35-3A29-4359-9669-433981D025D4}" srcId="{911C06B7-6EE4-4A81-9372-E9D8090D0302}" destId="{5D670C05-391E-40E0-A4FA-D5DFF0FF8D7E}" srcOrd="2" destOrd="0" parTransId="{395135D6-BB54-4C70-89E6-ED8C569FDC97}" sibTransId="{8E8FE5D3-0FF7-4886-911A-975F53417604}"/>
    <dgm:cxn modelId="{9C4FBE37-9F46-4419-ADD8-A64E7A78C720}" type="presOf" srcId="{79CAED58-D61E-447C-A59F-55869A5C773D}" destId="{A29CF0FF-F630-4E4E-AAE4-4D0AA1F58152}" srcOrd="0" destOrd="0" presId="urn:microsoft.com/office/officeart/2005/8/layout/vList2"/>
    <dgm:cxn modelId="{F358A261-4620-41BC-9867-5ED8B8A1BA17}" srcId="{911C06B7-6EE4-4A81-9372-E9D8090D0302}" destId="{79CAED58-D61E-447C-A59F-55869A5C773D}" srcOrd="0" destOrd="0" parTransId="{A05CFDB8-F4FE-4FFC-A0C7-1EF14A314823}" sibTransId="{32F72E18-3506-4405-809A-5C766F42D400}"/>
    <dgm:cxn modelId="{D30C654C-67A4-4569-B1D2-F0794DC848C5}" srcId="{5D670C05-391E-40E0-A4FA-D5DFF0FF8D7E}" destId="{E4D54C6A-FF2C-462E-B870-21748E2DF3A7}" srcOrd="0" destOrd="0" parTransId="{7F70F37A-5CB7-4E8C-941B-E381EE0F0F37}" sibTransId="{0187786B-B53B-45FA-AA92-0A91A9810F29}"/>
    <dgm:cxn modelId="{4F9ED26F-85C8-4266-8B73-AFAFE417D7A6}" srcId="{79CAED58-D61E-447C-A59F-55869A5C773D}" destId="{C1D615E7-97FD-4DBB-A3DA-392D4316ACA4}" srcOrd="0" destOrd="0" parTransId="{61BF3B39-269D-43FD-8AE1-72546D119B88}" sibTransId="{BDFD227E-1FDA-4B3D-8593-0AE5ED8B6782}"/>
    <dgm:cxn modelId="{FFBFB857-BAED-48B3-A163-D23926447243}" type="presOf" srcId="{A26D8227-630A-4E6A-8197-CBC9A99DC431}" destId="{7DBB823B-16F6-4619-B870-62DFA8B8C724}" srcOrd="0" destOrd="1" presId="urn:microsoft.com/office/officeart/2005/8/layout/vList2"/>
    <dgm:cxn modelId="{F62B14AB-DC05-455E-A0A4-5ABBA754AF8E}" type="presOf" srcId="{E4D54C6A-FF2C-462E-B870-21748E2DF3A7}" destId="{52467EF3-0CE0-4B6F-AB1D-F4E7E42631AE}" srcOrd="0" destOrd="0" presId="urn:microsoft.com/office/officeart/2005/8/layout/vList2"/>
    <dgm:cxn modelId="{3D71B9D0-2121-420F-9A70-D4FADBF6F30E}" type="presOf" srcId="{C1D615E7-97FD-4DBB-A3DA-392D4316ACA4}" destId="{7DBB823B-16F6-4619-B870-62DFA8B8C724}" srcOrd="0" destOrd="0" presId="urn:microsoft.com/office/officeart/2005/8/layout/vList2"/>
    <dgm:cxn modelId="{A1B1CEDA-1C24-4C68-9CEF-838F27F9ED42}" type="presOf" srcId="{911C06B7-6EE4-4A81-9372-E9D8090D0302}" destId="{F007FF00-85CC-4113-8A12-498A5D879B48}" srcOrd="0" destOrd="0" presId="urn:microsoft.com/office/officeart/2005/8/layout/vList2"/>
    <dgm:cxn modelId="{9107D7EC-93BB-4C55-8D33-16B448BE1EC0}" srcId="{79CAED58-D61E-447C-A59F-55869A5C773D}" destId="{A26D8227-630A-4E6A-8197-CBC9A99DC431}" srcOrd="1" destOrd="0" parTransId="{E9D560D0-C449-4D22-932B-8961B8D11B36}" sibTransId="{FBE29369-DCAF-4512-8DAA-B44473B4E49B}"/>
    <dgm:cxn modelId="{AE6554F7-2C98-425B-9389-049E8B59D891}" type="presOf" srcId="{5D670C05-391E-40E0-A4FA-D5DFF0FF8D7E}" destId="{42F8FFDC-8F15-4527-8B45-39CE297D96AC}" srcOrd="0" destOrd="0" presId="urn:microsoft.com/office/officeart/2005/8/layout/vList2"/>
    <dgm:cxn modelId="{5B3B75F7-AFCF-4C57-9C58-7A1C98B27DD2}" srcId="{911C06B7-6EE4-4A81-9372-E9D8090D0302}" destId="{AA6D07F0-F625-4207-BA3F-9058DA08B12D}" srcOrd="1" destOrd="0" parTransId="{BC52DE69-8236-4776-A99F-D57EB9397D78}" sibTransId="{F8A6314C-5C8B-4D0F-9191-2FAACB5960F2}"/>
    <dgm:cxn modelId="{75B1353F-F172-4467-B8C7-99DC1C7C8591}" type="presParOf" srcId="{F007FF00-85CC-4113-8A12-498A5D879B48}" destId="{A29CF0FF-F630-4E4E-AAE4-4D0AA1F58152}" srcOrd="0" destOrd="0" presId="urn:microsoft.com/office/officeart/2005/8/layout/vList2"/>
    <dgm:cxn modelId="{ED4EC34E-24F7-47E5-86B6-E1943E092C33}" type="presParOf" srcId="{F007FF00-85CC-4113-8A12-498A5D879B48}" destId="{7DBB823B-16F6-4619-B870-62DFA8B8C724}" srcOrd="1" destOrd="0" presId="urn:microsoft.com/office/officeart/2005/8/layout/vList2"/>
    <dgm:cxn modelId="{2D570A88-1236-4641-B899-F06CDC2BCEDC}" type="presParOf" srcId="{F007FF00-85CC-4113-8A12-498A5D879B48}" destId="{3856794B-DBF1-4062-AA34-64EC546BD75E}" srcOrd="2" destOrd="0" presId="urn:microsoft.com/office/officeart/2005/8/layout/vList2"/>
    <dgm:cxn modelId="{68F6B262-D695-427C-B999-8BF97244E681}" type="presParOf" srcId="{F007FF00-85CC-4113-8A12-498A5D879B48}" destId="{0A47FACB-3450-4416-9769-4330DF2731AE}" srcOrd="3" destOrd="0" presId="urn:microsoft.com/office/officeart/2005/8/layout/vList2"/>
    <dgm:cxn modelId="{103A999E-518A-4DBB-9301-ABB395499A3A}" type="presParOf" srcId="{F007FF00-85CC-4113-8A12-498A5D879B48}" destId="{42F8FFDC-8F15-4527-8B45-39CE297D96AC}" srcOrd="4" destOrd="0" presId="urn:microsoft.com/office/officeart/2005/8/layout/vList2"/>
    <dgm:cxn modelId="{827861AB-30E2-47CE-9FF9-50F1E03FD039}" type="presParOf" srcId="{F007FF00-85CC-4113-8A12-498A5D879B48}" destId="{52467EF3-0CE0-4B6F-AB1D-F4E7E42631AE}"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4994B-508F-4D83-9534-0AF0515F6B30}">
      <dsp:nvSpPr>
        <dsp:cNvPr id="0" name=""/>
        <dsp:cNvSpPr/>
      </dsp:nvSpPr>
      <dsp:spPr>
        <a:xfrm>
          <a:off x="0" y="2907955"/>
          <a:ext cx="5681662" cy="1907933"/>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s-AR" sz="2800" kern="1200"/>
            <a:t>en caso de bienes insuficientes</a:t>
          </a:r>
          <a:endParaRPr lang="en-US" sz="2800" kern="1200"/>
        </a:p>
      </dsp:txBody>
      <dsp:txXfrm>
        <a:off x="0" y="2907955"/>
        <a:ext cx="5681662" cy="1030284"/>
      </dsp:txXfrm>
    </dsp:sp>
    <dsp:sp modelId="{777941EE-3541-41FB-912B-47A9B31489ED}">
      <dsp:nvSpPr>
        <dsp:cNvPr id="0" name=""/>
        <dsp:cNvSpPr/>
      </dsp:nvSpPr>
      <dsp:spPr>
        <a:xfrm>
          <a:off x="0" y="3900081"/>
          <a:ext cx="1420415" cy="87764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s-AR" sz="1000" kern="1200"/>
            <a:t>Mecanismo insatisfactorio de tutela jurisdiccional de los acreedores</a:t>
          </a:r>
          <a:endParaRPr lang="en-US" sz="1000" kern="1200"/>
        </a:p>
      </dsp:txBody>
      <dsp:txXfrm>
        <a:off x="0" y="3900081"/>
        <a:ext cx="1420415" cy="877649"/>
      </dsp:txXfrm>
    </dsp:sp>
    <dsp:sp modelId="{C9C21FD7-32DF-4C00-BC66-7864675EA3AB}">
      <dsp:nvSpPr>
        <dsp:cNvPr id="0" name=""/>
        <dsp:cNvSpPr/>
      </dsp:nvSpPr>
      <dsp:spPr>
        <a:xfrm>
          <a:off x="1420415" y="3900081"/>
          <a:ext cx="1420415" cy="87764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s-AR" sz="1000" kern="1200"/>
            <a:t>Suelen ser numerosas, dispersas de difícil control</a:t>
          </a:r>
          <a:endParaRPr lang="en-US" sz="1000" kern="1200"/>
        </a:p>
      </dsp:txBody>
      <dsp:txXfrm>
        <a:off x="1420415" y="3900081"/>
        <a:ext cx="1420415" cy="877649"/>
      </dsp:txXfrm>
    </dsp:sp>
    <dsp:sp modelId="{551358D9-10CC-4A02-8753-405ADC0A2376}">
      <dsp:nvSpPr>
        <dsp:cNvPr id="0" name=""/>
        <dsp:cNvSpPr/>
      </dsp:nvSpPr>
      <dsp:spPr>
        <a:xfrm>
          <a:off x="2840831" y="3900081"/>
          <a:ext cx="1420415" cy="87764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s-AR" sz="1000" kern="1200"/>
            <a:t>Regidas por el principio dispositivo</a:t>
          </a:r>
          <a:endParaRPr lang="en-US" sz="1000" kern="1200"/>
        </a:p>
      </dsp:txBody>
      <dsp:txXfrm>
        <a:off x="2840831" y="3900081"/>
        <a:ext cx="1420415" cy="877649"/>
      </dsp:txXfrm>
    </dsp:sp>
    <dsp:sp modelId="{FF75500B-6AF5-40FF-9F58-4552600BA605}">
      <dsp:nvSpPr>
        <dsp:cNvPr id="0" name=""/>
        <dsp:cNvSpPr/>
      </dsp:nvSpPr>
      <dsp:spPr>
        <a:xfrm>
          <a:off x="4261246" y="3900081"/>
          <a:ext cx="1420415" cy="87764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s-AR" sz="1000" kern="1200"/>
            <a:t>Acciones disponibles en caso de que el deudor haya transferido sus bienes para eludir su responsabilidad</a:t>
          </a:r>
          <a:endParaRPr lang="en-US" sz="1000" kern="1200"/>
        </a:p>
      </dsp:txBody>
      <dsp:txXfrm>
        <a:off x="4261246" y="3900081"/>
        <a:ext cx="1420415" cy="877649"/>
      </dsp:txXfrm>
    </dsp:sp>
    <dsp:sp modelId="{70DCC547-FD60-47D7-9A25-40C24CA7B6AB}">
      <dsp:nvSpPr>
        <dsp:cNvPr id="0" name=""/>
        <dsp:cNvSpPr/>
      </dsp:nvSpPr>
      <dsp:spPr>
        <a:xfrm rot="10800000">
          <a:off x="0" y="2172"/>
          <a:ext cx="5681662" cy="2934402"/>
        </a:xfrm>
        <a:prstGeom prst="upArrowCallou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s-AR" sz="2800" kern="1200"/>
            <a:t>Prior in tempore, potior in iure – Primero en el tiempo mejor en el derecho</a:t>
          </a:r>
          <a:endParaRPr lang="en-US" sz="2800" kern="1200"/>
        </a:p>
      </dsp:txBody>
      <dsp:txXfrm rot="10800000">
        <a:off x="0" y="2172"/>
        <a:ext cx="5681662" cy="19066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9318A9-CA78-49EF-90E6-56C3CA136B45}">
      <dsp:nvSpPr>
        <dsp:cNvPr id="0" name=""/>
        <dsp:cNvSpPr/>
      </dsp:nvSpPr>
      <dsp:spPr>
        <a:xfrm>
          <a:off x="0" y="466764"/>
          <a:ext cx="10653579" cy="83947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s-AR" sz="3500" kern="1200"/>
            <a:t>Universalidad – objetiva y subjetiva</a:t>
          </a:r>
          <a:endParaRPr lang="en-US" sz="3500" kern="1200"/>
        </a:p>
      </dsp:txBody>
      <dsp:txXfrm>
        <a:off x="40980" y="507744"/>
        <a:ext cx="10571619" cy="757514"/>
      </dsp:txXfrm>
    </dsp:sp>
    <dsp:sp modelId="{9D1D574E-D683-4540-A1D7-0467646AB248}">
      <dsp:nvSpPr>
        <dsp:cNvPr id="0" name=""/>
        <dsp:cNvSpPr/>
      </dsp:nvSpPr>
      <dsp:spPr>
        <a:xfrm>
          <a:off x="0" y="1407039"/>
          <a:ext cx="10653579" cy="83947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s-AR" sz="3500" kern="1200"/>
            <a:t>Pars conditio creditorum - Igualdad</a:t>
          </a:r>
          <a:endParaRPr lang="en-US" sz="3500" kern="1200"/>
        </a:p>
      </dsp:txBody>
      <dsp:txXfrm>
        <a:off x="40980" y="1448019"/>
        <a:ext cx="10571619" cy="757514"/>
      </dsp:txXfrm>
    </dsp:sp>
    <dsp:sp modelId="{8EEF79BC-AFC6-4AC4-B5D4-F4CCC3CADBBD}">
      <dsp:nvSpPr>
        <dsp:cNvPr id="0" name=""/>
        <dsp:cNvSpPr/>
      </dsp:nvSpPr>
      <dsp:spPr>
        <a:xfrm>
          <a:off x="0" y="2347314"/>
          <a:ext cx="10653579" cy="83947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s-AR" sz="3500" kern="1200"/>
            <a:t>Proceso único - Unicidad</a:t>
          </a:r>
          <a:endParaRPr lang="en-US" sz="3500" kern="1200"/>
        </a:p>
      </dsp:txBody>
      <dsp:txXfrm>
        <a:off x="40980" y="2388294"/>
        <a:ext cx="10571619" cy="757514"/>
      </dsp:txXfrm>
    </dsp:sp>
    <dsp:sp modelId="{F68460FB-4879-4925-A7B1-213BFDF39F77}">
      <dsp:nvSpPr>
        <dsp:cNvPr id="0" name=""/>
        <dsp:cNvSpPr/>
      </dsp:nvSpPr>
      <dsp:spPr>
        <a:xfrm>
          <a:off x="0" y="3287588"/>
          <a:ext cx="10653579" cy="839474"/>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s-AR" sz="3500" kern="1200"/>
            <a:t>Facilita la recomposición del patrimonio del fallido</a:t>
          </a:r>
          <a:endParaRPr lang="en-US" sz="3500" kern="1200"/>
        </a:p>
      </dsp:txBody>
      <dsp:txXfrm>
        <a:off x="40980" y="3328568"/>
        <a:ext cx="10571619" cy="7575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9CF0FF-F630-4E4E-AAE4-4D0AA1F58152}">
      <dsp:nvSpPr>
        <dsp:cNvPr id="0" name=""/>
        <dsp:cNvSpPr/>
      </dsp:nvSpPr>
      <dsp:spPr>
        <a:xfrm>
          <a:off x="0" y="11226"/>
          <a:ext cx="8467558" cy="74353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AR" sz="3100" kern="1200"/>
            <a:t>Universalidad</a:t>
          </a:r>
          <a:endParaRPr lang="en-US" sz="3100" kern="1200"/>
        </a:p>
      </dsp:txBody>
      <dsp:txXfrm>
        <a:off x="36296" y="47522"/>
        <a:ext cx="8394966" cy="670943"/>
      </dsp:txXfrm>
    </dsp:sp>
    <dsp:sp modelId="{7DBB823B-16F6-4619-B870-62DFA8B8C724}">
      <dsp:nvSpPr>
        <dsp:cNvPr id="0" name=""/>
        <dsp:cNvSpPr/>
      </dsp:nvSpPr>
      <dsp:spPr>
        <a:xfrm>
          <a:off x="0" y="754761"/>
          <a:ext cx="8467558" cy="83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845"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s-AR" sz="2400" kern="1200"/>
            <a:t>Objetiva</a:t>
          </a:r>
          <a:endParaRPr lang="en-US" sz="2400" kern="1200"/>
        </a:p>
        <a:p>
          <a:pPr marL="228600" lvl="1" indent="-228600" algn="l" defTabSz="1066800">
            <a:lnSpc>
              <a:spcPct val="90000"/>
            </a:lnSpc>
            <a:spcBef>
              <a:spcPct val="0"/>
            </a:spcBef>
            <a:spcAft>
              <a:spcPct val="20000"/>
            </a:spcAft>
            <a:buChar char="•"/>
          </a:pPr>
          <a:r>
            <a:rPr lang="es-AR" sz="2400" kern="1200"/>
            <a:t>Subjetiva</a:t>
          </a:r>
          <a:endParaRPr lang="en-US" sz="2400" kern="1200"/>
        </a:p>
      </dsp:txBody>
      <dsp:txXfrm>
        <a:off x="0" y="754761"/>
        <a:ext cx="8467558" cy="834210"/>
      </dsp:txXfrm>
    </dsp:sp>
    <dsp:sp modelId="{3856794B-DBF1-4062-AA34-64EC546BD75E}">
      <dsp:nvSpPr>
        <dsp:cNvPr id="0" name=""/>
        <dsp:cNvSpPr/>
      </dsp:nvSpPr>
      <dsp:spPr>
        <a:xfrm>
          <a:off x="0" y="1588971"/>
          <a:ext cx="8467558" cy="74353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AR" sz="3100" kern="1200"/>
            <a:t>Unicidad</a:t>
          </a:r>
          <a:endParaRPr lang="en-US" sz="3100" kern="1200"/>
        </a:p>
      </dsp:txBody>
      <dsp:txXfrm>
        <a:off x="36296" y="1625267"/>
        <a:ext cx="8394966" cy="670943"/>
      </dsp:txXfrm>
    </dsp:sp>
    <dsp:sp modelId="{42F8FFDC-8F15-4527-8B45-39CE297D96AC}">
      <dsp:nvSpPr>
        <dsp:cNvPr id="0" name=""/>
        <dsp:cNvSpPr/>
      </dsp:nvSpPr>
      <dsp:spPr>
        <a:xfrm>
          <a:off x="0" y="2421787"/>
          <a:ext cx="8467558" cy="74353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s-AR" sz="3100" kern="1200"/>
            <a:t>Inquisitoriedad relativa</a:t>
          </a:r>
          <a:endParaRPr lang="en-US" sz="3100" kern="1200"/>
        </a:p>
      </dsp:txBody>
      <dsp:txXfrm>
        <a:off x="36296" y="2458083"/>
        <a:ext cx="8394966" cy="670943"/>
      </dsp:txXfrm>
    </dsp:sp>
    <dsp:sp modelId="{52467EF3-0CE0-4B6F-AB1D-F4E7E42631AE}">
      <dsp:nvSpPr>
        <dsp:cNvPr id="0" name=""/>
        <dsp:cNvSpPr/>
      </dsp:nvSpPr>
      <dsp:spPr>
        <a:xfrm>
          <a:off x="0" y="3165322"/>
          <a:ext cx="8467558"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845"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s-AR" sz="2400" kern="1200"/>
            <a:t>Inquisitoriedad en el proceso – art. 274</a:t>
          </a:r>
          <a:endParaRPr lang="en-US" sz="2400" kern="1200"/>
        </a:p>
      </dsp:txBody>
      <dsp:txXfrm>
        <a:off x="0" y="3165322"/>
        <a:ext cx="8467558" cy="5133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EE99FF-E0C7-4285-8FC2-63EAC3DE7EF8}" type="datetimeFigureOut">
              <a:rPr lang="es-AR" smtClean="0"/>
              <a:t>31/5/2026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211485-079D-4C0A-8A37-770F1F173181}" type="slidenum">
              <a:rPr lang="es-AR" smtClean="0"/>
              <a:t>‹Nº›</a:t>
            </a:fld>
            <a:endParaRPr lang="es-AR"/>
          </a:p>
        </p:txBody>
      </p:sp>
    </p:spTree>
    <p:extLst>
      <p:ext uri="{BB962C8B-B14F-4D97-AF65-F5344CB8AC3E}">
        <p14:creationId xmlns:p14="http://schemas.microsoft.com/office/powerpoint/2010/main" val="833000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5/31/2026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02043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04471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5/31/2026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78386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5/31/2026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014254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5/31/2026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826947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5/31/2026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33294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5/31/2026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263320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5/31/2026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5569999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5/31/2026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22771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5/31/2026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15948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00819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76285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60207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7642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2713529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5/31/2026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29816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5/31/2026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984990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5/31/2026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709922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5/31/2026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292238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85986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5/31/2026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28477138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469206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5/31/2026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14215843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5/31/2026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443800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5/31/2026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14575624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37219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5/31/2026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352098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5/31/2026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897651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5/31/2026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640618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780259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7574375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2348921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5/31/2026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660199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5/31/2026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7202720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5/31/2026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081533707"/>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5/31/2026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‹Nº›</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961043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5/31/2026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‹Nº›</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647417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5/31/2026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‹Nº›</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32771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5/31/2026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8318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5/31/2026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08507631"/>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5/31/2026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9020499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6299200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5/31/2026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05229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5/31/2026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018215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5/31/2026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7218964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5/31/2026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193287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5/31/2026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857862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27308190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5/31/2026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5167930"/>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5EE9E671-1C83-40F7-9D33-FE8AAC7F721F}" type="datetime1">
              <a:rPr lang="en-US" smtClean="0"/>
              <a:t>5/31/2026</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77208335"/>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EE9E671-1C83-40F7-9D33-FE8AAC7F721F}" type="datetime1">
              <a:rPr lang="en-US" smtClean="0"/>
              <a:t>5/31/2026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004524051"/>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s-ES"/>
              <a:t>Haga clic para modificar el estilo de título del patrón</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EE9E671-1C83-40F7-9D33-FE8AAC7F721F}" type="datetime1">
              <a:rPr lang="en-US" smtClean="0"/>
              <a:t>5/31/2026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54248312"/>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EE9E671-1C83-40F7-9D33-FE8AAC7F721F}" type="datetime1">
              <a:rPr lang="en-US" smtClean="0"/>
              <a:t>5/31/2026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93494130"/>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20000" y="2505075"/>
            <a:ext cx="5025216"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s-ES"/>
              <a:t>Haga clic para modificar los estilos de texto del patrón</a:t>
            </a:r>
          </a:p>
        </p:txBody>
      </p:sp>
      <p:sp>
        <p:nvSpPr>
          <p:cNvPr id="6" name="Content Placeholder 5"/>
          <p:cNvSpPr>
            <a:spLocks noGrp="1"/>
          </p:cNvSpPr>
          <p:nvPr>
            <p:ph sz="quarter" idx="4"/>
          </p:nvPr>
        </p:nvSpPr>
        <p:spPr>
          <a:xfrm>
            <a:off x="6319840" y="2505075"/>
            <a:ext cx="503554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EE9E671-1C83-40F7-9D33-FE8AAC7F721F}" type="datetime1">
              <a:rPr lang="en-US" smtClean="0"/>
              <a:t>5/31/2026</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492443545"/>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EE9E671-1C83-40F7-9D33-FE8AAC7F721F}" type="datetime1">
              <a:rPr lang="en-US" smtClean="0"/>
              <a:t>5/31/2026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922090633"/>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E9E671-1C83-40F7-9D33-FE8AAC7F721F}" type="datetime1">
              <a:rPr lang="en-US" smtClean="0"/>
              <a:t>5/31/2026</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191318091"/>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E9E671-1C83-40F7-9D33-FE8AAC7F721F}" type="datetime1">
              <a:rPr lang="en-US" smtClean="0"/>
              <a:t>5/31/2026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861193230"/>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E9E671-1C83-40F7-9D33-FE8AAC7F721F}" type="datetime1">
              <a:rPr lang="en-US" smtClean="0"/>
              <a:t>5/31/2026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900572826"/>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E9E671-1C83-40F7-9D33-FE8AAC7F721F}" type="datetime1">
              <a:rPr lang="en-US" smtClean="0"/>
              <a:t>5/31/2026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87587852"/>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E9E671-1C83-40F7-9D33-FE8AAC7F721F}" type="datetime1">
              <a:rPr lang="en-US" smtClean="0"/>
              <a:t>5/31/2026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436542340"/>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E9E671-1C83-40F7-9D33-FE8AAC7F721F}" type="datetime1">
              <a:rPr lang="en-US" smtClean="0"/>
              <a:t>5/31/2026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75534368"/>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EE9E671-1C83-40F7-9D33-FE8AAC7F721F}" type="datetime1">
              <a:rPr lang="en-US" smtClean="0"/>
              <a:t>5/31/2026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82246517"/>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s-ES"/>
              <a:t>Haga clic para modificar los estilos de texto del patrón</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s-ES"/>
              <a:t>Haga clic para modificar los estilos de texto del patrón</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EE9E671-1C83-40F7-9D33-FE8AAC7F721F}" type="datetime1">
              <a:rPr lang="en-US" smtClean="0"/>
              <a:t>5/31/2026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56325593"/>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EE9E671-1C83-40F7-9D33-FE8AAC7F721F}" type="datetime1">
              <a:rPr lang="en-US" smtClean="0"/>
              <a:t>5/31/2026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40800482"/>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EE9E671-1C83-40F7-9D33-FE8AAC7F721F}" type="datetime1">
              <a:rPr lang="en-US" smtClean="0"/>
              <a:t>5/31/2026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5938060"/>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EE9E671-1C83-40F7-9D33-FE8AAC7F721F}" type="datetime1">
              <a:rPr lang="en-US" smtClean="0"/>
              <a:t>5/31/2026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179144245"/>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5/31/2026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927865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image" Target="../media/image9.png"/><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theme" Target="../theme/theme2.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5/31/2026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1007546712"/>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50"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EE9E671-1C83-40F7-9D33-FE8AAC7F721F}" type="datetime1">
              <a:rPr lang="en-US" smtClean="0"/>
              <a:t>5/31/2026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en-US"/>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2572014983"/>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Lst>
  <p:hf sldNum="0" hdr="0" ftr="0" dt="0"/>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1.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A8C622-F4C3-0A3B-E5ED-324237149BC1}"/>
              </a:ext>
            </a:extLst>
          </p:cNvPr>
          <p:cNvSpPr>
            <a:spLocks noGrp="1"/>
          </p:cNvSpPr>
          <p:nvPr>
            <p:ph type="ctrTitle"/>
          </p:nvPr>
        </p:nvSpPr>
        <p:spPr>
          <a:xfrm>
            <a:off x="365760" y="5218032"/>
            <a:ext cx="11460480" cy="786384"/>
          </a:xfrm>
        </p:spPr>
        <p:txBody>
          <a:bodyPr anchor="b">
            <a:normAutofit/>
          </a:bodyPr>
          <a:lstStyle/>
          <a:p>
            <a:r>
              <a:rPr lang="es-AR" dirty="0"/>
              <a:t>Clase 1</a:t>
            </a:r>
          </a:p>
        </p:txBody>
      </p:sp>
      <p:sp>
        <p:nvSpPr>
          <p:cNvPr id="8" name="Picture Placeholder 3">
            <a:extLst>
              <a:ext uri="{FF2B5EF4-FFF2-40B4-BE49-F238E27FC236}">
                <a16:creationId xmlns:a16="http://schemas.microsoft.com/office/drawing/2014/main" id="{7BC92811-9B75-74F1-1D57-A3DD22C2F173}"/>
              </a:ext>
            </a:extLst>
          </p:cNvPr>
          <p:cNvSpPr>
            <a:spLocks noGrp="1"/>
          </p:cNvSpPr>
          <p:nvPr>
            <p:ph type="pic" sz="quarter" idx="13"/>
          </p:nvPr>
        </p:nvSpPr>
        <p:spPr>
          <a:xfrm>
            <a:off x="0" y="0"/>
            <a:ext cx="12191999" cy="4986425"/>
          </a:xfrm>
        </p:spPr>
        <p:txBody>
          <a:bodyPr/>
          <a:lstStyle/>
          <a:p>
            <a:endParaRPr lang="es-AR"/>
          </a:p>
        </p:txBody>
      </p:sp>
    </p:spTree>
    <p:extLst>
      <p:ext uri="{BB962C8B-B14F-4D97-AF65-F5344CB8AC3E}">
        <p14:creationId xmlns:p14="http://schemas.microsoft.com/office/powerpoint/2010/main" val="3938786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83FAF6-6226-F347-A5C7-BD76AF505204}"/>
              </a:ext>
            </a:extLst>
          </p:cNvPr>
          <p:cNvSpPr>
            <a:spLocks noGrp="1"/>
          </p:cNvSpPr>
          <p:nvPr>
            <p:ph type="ctrTitle"/>
          </p:nvPr>
        </p:nvSpPr>
        <p:spPr>
          <a:xfrm>
            <a:off x="365760" y="5218032"/>
            <a:ext cx="11460480" cy="786384"/>
          </a:xfrm>
        </p:spPr>
        <p:txBody>
          <a:bodyPr anchor="b">
            <a:normAutofit/>
          </a:bodyPr>
          <a:lstStyle/>
          <a:p>
            <a:r>
              <a:rPr lang="es-AR"/>
              <a:t>PROCESOS COLECTIVOS</a:t>
            </a:r>
          </a:p>
        </p:txBody>
      </p:sp>
      <p:sp>
        <p:nvSpPr>
          <p:cNvPr id="8" name="Subtitle 2">
            <a:extLst>
              <a:ext uri="{FF2B5EF4-FFF2-40B4-BE49-F238E27FC236}">
                <a16:creationId xmlns:a16="http://schemas.microsoft.com/office/drawing/2014/main" id="{8F30C26F-2DF8-D377-E518-184B63DB4927}"/>
              </a:ext>
            </a:extLst>
          </p:cNvPr>
          <p:cNvSpPr>
            <a:spLocks noGrp="1"/>
          </p:cNvSpPr>
          <p:nvPr>
            <p:ph type="subTitle" idx="1"/>
          </p:nvPr>
        </p:nvSpPr>
        <p:spPr>
          <a:xfrm>
            <a:off x="365760" y="5972629"/>
            <a:ext cx="11460480" cy="480373"/>
          </a:xfrm>
        </p:spPr>
        <p:txBody>
          <a:bodyPr/>
          <a:lstStyle/>
          <a:p>
            <a:endParaRPr lang="en-US"/>
          </a:p>
        </p:txBody>
      </p:sp>
      <p:pic>
        <p:nvPicPr>
          <p:cNvPr id="4" name="Picture 3" descr="Persona sosteniendo una pieza de rompecabezas">
            <a:extLst>
              <a:ext uri="{FF2B5EF4-FFF2-40B4-BE49-F238E27FC236}">
                <a16:creationId xmlns:a16="http://schemas.microsoft.com/office/drawing/2014/main" id="{5BD1FD6F-ADC6-5663-D4E7-A8EC2977A661}"/>
              </a:ext>
            </a:extLst>
          </p:cNvPr>
          <p:cNvPicPr>
            <a:picLocks noChangeAspect="1"/>
          </p:cNvPicPr>
          <p:nvPr/>
        </p:nvPicPr>
        <p:blipFill>
          <a:blip r:embed="rId2"/>
          <a:srcRect t="34627" b="5005"/>
          <a:stretch>
            <a:fillRect/>
          </a:stretch>
        </p:blipFill>
        <p:spPr>
          <a:xfrm>
            <a:off x="20" y="10"/>
            <a:ext cx="12191979" cy="4986415"/>
          </a:xfrm>
          <a:prstGeom prst="rect">
            <a:avLst/>
          </a:prstGeom>
          <a:noFill/>
        </p:spPr>
      </p:pic>
    </p:spTree>
    <p:extLst>
      <p:ext uri="{BB962C8B-B14F-4D97-AF65-F5344CB8AC3E}">
        <p14:creationId xmlns:p14="http://schemas.microsoft.com/office/powerpoint/2010/main" val="155396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64227F-093C-9D4A-9F61-720EA08B6B45}"/>
              </a:ext>
            </a:extLst>
          </p:cNvPr>
          <p:cNvSpPr>
            <a:spLocks noGrp="1"/>
          </p:cNvSpPr>
          <p:nvPr>
            <p:ph type="title"/>
          </p:nvPr>
        </p:nvSpPr>
        <p:spPr>
          <a:xfrm>
            <a:off x="614676" y="1847088"/>
            <a:ext cx="10888473" cy="1133856"/>
          </a:xfrm>
        </p:spPr>
        <p:txBody>
          <a:bodyPr anchor="b">
            <a:normAutofit/>
          </a:bodyPr>
          <a:lstStyle/>
          <a:p>
            <a:r>
              <a:rPr lang="es-AR"/>
              <a:t>PATRIMONIO</a:t>
            </a:r>
          </a:p>
        </p:txBody>
      </p:sp>
      <p:sp>
        <p:nvSpPr>
          <p:cNvPr id="3" name="Marcador de contenido 2">
            <a:extLst>
              <a:ext uri="{FF2B5EF4-FFF2-40B4-BE49-F238E27FC236}">
                <a16:creationId xmlns:a16="http://schemas.microsoft.com/office/drawing/2014/main" id="{F2C7BEF7-48C0-0E45-9DA8-370D2811B92E}"/>
              </a:ext>
            </a:extLst>
          </p:cNvPr>
          <p:cNvSpPr>
            <a:spLocks noGrp="1"/>
          </p:cNvSpPr>
          <p:nvPr>
            <p:ph sz="quarter" idx="13"/>
          </p:nvPr>
        </p:nvSpPr>
        <p:spPr>
          <a:xfrm>
            <a:off x="612775" y="3594099"/>
            <a:ext cx="10890374" cy="2743200"/>
          </a:xfrm>
        </p:spPr>
        <p:txBody>
          <a:bodyPr>
            <a:normAutofit/>
          </a:bodyPr>
          <a:lstStyle/>
          <a:p>
            <a:r>
              <a:rPr lang="es-AR"/>
              <a:t>ARTICULO 743.- Bienes que constituyen la garantía. Los bienes presentes y futuros del deudor constituyen la garantía común de sus acreedores. El acreedor puede exigir la venta judicial de los bienes del deudor, pero sólo en la medida necesaria para satisfacer su crédito. Todos los acreedores pueden ejecutar estos bienes en posición igualitaria, excepto que exista una causa legal de preferencia.</a:t>
            </a:r>
            <a:br>
              <a:rPr lang="es-AR"/>
            </a:br>
            <a:endParaRPr lang="es-AR"/>
          </a:p>
        </p:txBody>
      </p:sp>
    </p:spTree>
    <p:extLst>
      <p:ext uri="{BB962C8B-B14F-4D97-AF65-F5344CB8AC3E}">
        <p14:creationId xmlns:p14="http://schemas.microsoft.com/office/powerpoint/2010/main" val="681294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8B7977-AEE6-364A-896C-7DCF29D26012}"/>
              </a:ext>
            </a:extLst>
          </p:cNvPr>
          <p:cNvSpPr>
            <a:spLocks noGrp="1"/>
          </p:cNvSpPr>
          <p:nvPr>
            <p:ph type="title"/>
          </p:nvPr>
        </p:nvSpPr>
        <p:spPr>
          <a:xfrm>
            <a:off x="614678" y="1537853"/>
            <a:ext cx="4145582" cy="4638825"/>
          </a:xfrm>
        </p:spPr>
        <p:txBody>
          <a:bodyPr anchor="t">
            <a:normAutofit/>
          </a:bodyPr>
          <a:lstStyle/>
          <a:p>
            <a:r>
              <a:rPr lang="es-AR"/>
              <a:t>Ejecución Individual</a:t>
            </a:r>
          </a:p>
        </p:txBody>
      </p:sp>
      <p:graphicFrame>
        <p:nvGraphicFramePr>
          <p:cNvPr id="5" name="Marcador de contenido 2">
            <a:extLst>
              <a:ext uri="{FF2B5EF4-FFF2-40B4-BE49-F238E27FC236}">
                <a16:creationId xmlns:a16="http://schemas.microsoft.com/office/drawing/2014/main" id="{A2705F40-69B9-BABD-202A-DF8CCD043CAF}"/>
              </a:ext>
            </a:extLst>
          </p:cNvPr>
          <p:cNvGraphicFramePr>
            <a:graphicFrameLocks noGrp="1"/>
          </p:cNvGraphicFramePr>
          <p:nvPr>
            <p:ph sz="quarter" idx="13"/>
            <p:extLst>
              <p:ext uri="{D42A27DB-BD31-4B8C-83A1-F6EECF244321}">
                <p14:modId xmlns:p14="http://schemas.microsoft.com/office/powerpoint/2010/main" val="2089629329"/>
              </p:ext>
            </p:extLst>
          </p:nvPr>
        </p:nvGraphicFramePr>
        <p:xfrm>
          <a:off x="5519738" y="1538288"/>
          <a:ext cx="5681662" cy="4818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1184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169D4B-29C2-6A4C-AAB0-E7374EE45960}"/>
              </a:ext>
            </a:extLst>
          </p:cNvPr>
          <p:cNvSpPr>
            <a:spLocks noGrp="1"/>
          </p:cNvSpPr>
          <p:nvPr>
            <p:ph type="title"/>
          </p:nvPr>
        </p:nvSpPr>
        <p:spPr>
          <a:xfrm>
            <a:off x="612648" y="548640"/>
            <a:ext cx="10653578" cy="1132258"/>
          </a:xfrm>
        </p:spPr>
        <p:txBody>
          <a:bodyPr anchor="t">
            <a:normAutofit/>
          </a:bodyPr>
          <a:lstStyle/>
          <a:p>
            <a:r>
              <a:rPr lang="es-AR"/>
              <a:t>Ejecución colectiva</a:t>
            </a:r>
          </a:p>
        </p:txBody>
      </p:sp>
      <p:graphicFrame>
        <p:nvGraphicFramePr>
          <p:cNvPr id="5" name="Marcador de contenido 2">
            <a:extLst>
              <a:ext uri="{FF2B5EF4-FFF2-40B4-BE49-F238E27FC236}">
                <a16:creationId xmlns:a16="http://schemas.microsoft.com/office/drawing/2014/main" id="{7E910611-3A17-AADD-3E9B-ED19C973FBEC}"/>
              </a:ext>
            </a:extLst>
          </p:cNvPr>
          <p:cNvGraphicFramePr>
            <a:graphicFrameLocks noGrp="1"/>
          </p:cNvGraphicFramePr>
          <p:nvPr>
            <p:ph idx="1"/>
            <p:extLst>
              <p:ext uri="{D42A27DB-BD31-4B8C-83A1-F6EECF244321}">
                <p14:modId xmlns:p14="http://schemas.microsoft.com/office/powerpoint/2010/main" val="1282191750"/>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5191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02C998-7B85-C04F-9DDD-E7EF2F25ADCF}"/>
              </a:ext>
            </a:extLst>
          </p:cNvPr>
          <p:cNvSpPr>
            <a:spLocks noGrp="1"/>
          </p:cNvSpPr>
          <p:nvPr>
            <p:ph type="title"/>
          </p:nvPr>
        </p:nvSpPr>
        <p:spPr>
          <a:xfrm>
            <a:off x="612647" y="664108"/>
            <a:ext cx="8467558" cy="1554480"/>
          </a:xfrm>
        </p:spPr>
        <p:txBody>
          <a:bodyPr anchor="b">
            <a:normAutofit/>
          </a:bodyPr>
          <a:lstStyle/>
          <a:p>
            <a:r>
              <a:rPr lang="es-AR"/>
              <a:t>CARACTERISTICAS DEL PROCESO CONCURSAL</a:t>
            </a:r>
          </a:p>
        </p:txBody>
      </p:sp>
      <p:graphicFrame>
        <p:nvGraphicFramePr>
          <p:cNvPr id="16" name="Marcador de contenido 2">
            <a:extLst>
              <a:ext uri="{FF2B5EF4-FFF2-40B4-BE49-F238E27FC236}">
                <a16:creationId xmlns:a16="http://schemas.microsoft.com/office/drawing/2014/main" id="{A2AE1F88-3D53-9204-0388-95B24BC9D69E}"/>
              </a:ext>
            </a:extLst>
          </p:cNvPr>
          <p:cNvGraphicFramePr>
            <a:graphicFrameLocks noGrp="1"/>
          </p:cNvGraphicFramePr>
          <p:nvPr>
            <p:ph sz="quarter" idx="13"/>
            <p:extLst>
              <p:ext uri="{D42A27DB-BD31-4B8C-83A1-F6EECF244321}">
                <p14:modId xmlns:p14="http://schemas.microsoft.com/office/powerpoint/2010/main" val="1216177653"/>
              </p:ext>
            </p:extLst>
          </p:nvPr>
        </p:nvGraphicFramePr>
        <p:xfrm>
          <a:off x="612647" y="2333860"/>
          <a:ext cx="8467558" cy="36899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9023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9"/>
        <p:cNvGrpSpPr/>
        <p:nvPr/>
      </p:nvGrpSpPr>
      <p:grpSpPr>
        <a:xfrm>
          <a:off x="0" y="0"/>
          <a:ext cx="0" cy="0"/>
          <a:chOff x="0" y="0"/>
          <a:chExt cx="0" cy="0"/>
        </a:xfrm>
      </p:grpSpPr>
      <p:sp>
        <p:nvSpPr>
          <p:cNvPr id="100" name="Google Shape;100;p1"/>
          <p:cNvSpPr txBox="1">
            <a:spLocks noGrp="1"/>
          </p:cNvSpPr>
          <p:nvPr>
            <p:ph type="title"/>
          </p:nvPr>
        </p:nvSpPr>
        <p:spPr>
          <a:xfrm>
            <a:off x="1069849" y="1298448"/>
            <a:ext cx="7056444" cy="3255264"/>
          </a:xfrm>
        </p:spPr>
        <p:txBody>
          <a:bodyPr spcFirstLastPara="1" vert="horz" lIns="91440" tIns="45720" rIns="91440" bIns="45720" rtlCol="0" anchor="b" anchorCtr="0">
            <a:normAutofit/>
          </a:bodyPr>
          <a:lstStyle/>
          <a:p>
            <a:pPr marL="0" lvl="0" indent="0" algn="r">
              <a:spcAft>
                <a:spcPts val="0"/>
              </a:spcAft>
              <a:buClr>
                <a:schemeClr val="dk1"/>
              </a:buClr>
              <a:buSzPts val="6600"/>
            </a:pPr>
            <a:r>
              <a:rPr lang="en-US" sz="5900" spc="-100">
                <a:solidFill>
                  <a:schemeClr val="accent1"/>
                </a:solidFill>
              </a:rPr>
              <a:t>CESACIÓN DE PAGOS</a:t>
            </a:r>
          </a:p>
        </p:txBody>
      </p:sp>
      <p:sp>
        <p:nvSpPr>
          <p:cNvPr id="101" name="Google Shape;101;p1"/>
          <p:cNvSpPr txBox="1">
            <a:spLocks noGrp="1"/>
          </p:cNvSpPr>
          <p:nvPr>
            <p:ph sz="quarter" idx="14"/>
          </p:nvPr>
        </p:nvSpPr>
        <p:spPr>
          <a:xfrm>
            <a:off x="8528702" y="4084889"/>
            <a:ext cx="3021621" cy="1709159"/>
          </a:xfrm>
        </p:spPr>
        <p:txBody>
          <a:bodyPr spcFirstLastPara="1" vert="horz" lIns="91440" tIns="45720" rIns="91440" bIns="45720" rtlCol="0" anchor="t" anchorCtr="0">
            <a:normAutofit/>
          </a:bodyPr>
          <a:lstStyle/>
          <a:p>
            <a:pPr lvl="0" algn="r">
              <a:spcAft>
                <a:spcPts val="600"/>
              </a:spcAft>
              <a:buSzPts val="1800"/>
            </a:pPr>
            <a:r>
              <a:rPr lang="en-US" sz="1800">
                <a:solidFill>
                  <a:srgbClr val="FFFFFF"/>
                </a:solidFill>
              </a:rPr>
              <a:t>CONCEPTO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100"/>
                                        </p:tgtEl>
                                        <p:attrNameLst>
                                          <p:attrName>style.visibility</p:attrName>
                                        </p:attrNameLst>
                                      </p:cBhvr>
                                      <p:to>
                                        <p:strVal val="visible"/>
                                      </p:to>
                                    </p:set>
                                    <p:animEffect transition="in" filter="fade">
                                      <p:cBhvr>
                                        <p:cTn id="7" dur="4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1600754" y="1087374"/>
            <a:ext cx="8983489" cy="1000978"/>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3200"/>
              <a:buFont typeface="Gill Sans"/>
              <a:buNone/>
            </a:pPr>
            <a:r>
              <a:rPr lang="es-AR"/>
              <a:t>ARTICULO 1</a:t>
            </a:r>
          </a:p>
        </p:txBody>
      </p:sp>
      <p:sp>
        <p:nvSpPr>
          <p:cNvPr id="107" name="Google Shape;107;p2"/>
          <p:cNvSpPr txBox="1">
            <a:spLocks noGrp="1"/>
          </p:cNvSpPr>
          <p:nvPr>
            <p:ph idx="1"/>
          </p:nvPr>
        </p:nvSpPr>
        <p:spPr>
          <a:xfrm>
            <a:off x="1600753" y="2535446"/>
            <a:ext cx="8983489" cy="3554457"/>
          </a:xfrm>
          <a:prstGeom prst="rect">
            <a:avLst/>
          </a:prstGeom>
        </p:spPr>
        <p:txBody>
          <a:bodyPr spcFirstLastPara="1" lIns="91425" tIns="45700" rIns="91425" bIns="45700" anchorCtr="0">
            <a:normAutofit lnSpcReduction="10000"/>
          </a:bodyPr>
          <a:lstStyle/>
          <a:p>
            <a:pPr marL="228600" lvl="0" indent="-228600" rtl="0">
              <a:spcBef>
                <a:spcPts val="0"/>
              </a:spcBef>
              <a:spcAft>
                <a:spcPts val="0"/>
              </a:spcAft>
              <a:buSzPts val="2000"/>
              <a:buChar char="•"/>
            </a:pPr>
            <a:r>
              <a:rPr lang="es-MX">
                <a:solidFill>
                  <a:schemeClr val="tx1"/>
                </a:solidFill>
              </a:rPr>
              <a:t>ARTICULO 1°.- Cesación de pagos. El estado de cesación de pagos, cualquiera sea su causa y la naturaleza de las obligaciones a las que afecto, es presupuesto para la apertura de los concursos regulados en esta ley, sin perjuicio de lo dispuesto por los artículos 66 y 69.</a:t>
            </a:r>
          </a:p>
          <a:p>
            <a:pPr marL="228600" lvl="0" indent="-228600" rtl="0">
              <a:spcBef>
                <a:spcPts val="1000"/>
              </a:spcBef>
              <a:spcAft>
                <a:spcPts val="0"/>
              </a:spcAft>
              <a:buSzPts val="2000"/>
              <a:buChar char="•"/>
            </a:pPr>
            <a:r>
              <a:rPr lang="es-MX">
                <a:solidFill>
                  <a:schemeClr val="tx1"/>
                </a:solidFill>
              </a:rPr>
              <a:t>Universalidad. El concurso produce sus efectos sobre la totalidad del patrimonio del deudor, salvo las exclusiones legalmente establecidas respecto de bienes determinados.</a:t>
            </a:r>
          </a:p>
          <a:p>
            <a:pPr marL="0" lvl="0" indent="0" rtl="0">
              <a:spcBef>
                <a:spcPts val="1000"/>
              </a:spcBef>
              <a:spcAft>
                <a:spcPts val="0"/>
              </a:spcAft>
              <a:buSzPts val="2000"/>
              <a:buNone/>
            </a:pPr>
            <a:endParaRPr lang="es-MX">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AR" dirty="0"/>
              <a:t>CESACION DE PAGOS</a:t>
            </a:r>
            <a:endParaRPr dirty="0"/>
          </a:p>
        </p:txBody>
      </p:sp>
      <p:sp>
        <p:nvSpPr>
          <p:cNvPr id="113" name="Google Shape;113;p3"/>
          <p:cNvSpPr txBox="1">
            <a:spLocks noGrp="1"/>
          </p:cNvSpPr>
          <p:nvPr>
            <p:ph idx="1"/>
          </p:nvPr>
        </p:nvSpPr>
        <p:spPr>
          <a:xfrm>
            <a:off x="1451579" y="2015732"/>
            <a:ext cx="9603275" cy="607725"/>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s-AR"/>
              <a:t>El articulo carece de definicion del concepto.</a:t>
            </a:r>
            <a:endParaRPr/>
          </a:p>
        </p:txBody>
      </p:sp>
      <p:sp>
        <p:nvSpPr>
          <p:cNvPr id="114" name="Google Shape;114;p3"/>
          <p:cNvSpPr txBox="1"/>
          <p:nvPr/>
        </p:nvSpPr>
        <p:spPr>
          <a:xfrm>
            <a:off x="1451579" y="2950029"/>
            <a:ext cx="408925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b="0" i="0" u="none" strike="noStrike" cap="none">
                <a:solidFill>
                  <a:schemeClr val="dk1"/>
                </a:solidFill>
                <a:latin typeface="Gill Sans"/>
                <a:ea typeface="Gill Sans"/>
                <a:cs typeface="Gill Sans"/>
                <a:sym typeface="Gill Sans"/>
              </a:rPr>
              <a:t>La Doctrina lo define como:</a:t>
            </a:r>
            <a:endParaRPr/>
          </a:p>
        </p:txBody>
      </p:sp>
      <p:sp>
        <p:nvSpPr>
          <p:cNvPr id="115" name="Google Shape;115;p3"/>
          <p:cNvSpPr txBox="1"/>
          <p:nvPr/>
        </p:nvSpPr>
        <p:spPr>
          <a:xfrm>
            <a:off x="2220686" y="3722914"/>
            <a:ext cx="8077200" cy="646331"/>
          </a:xfrm>
          <a:prstGeom prst="rect">
            <a:avLst/>
          </a:prstGeom>
          <a:gradFill>
            <a:gsLst>
              <a:gs pos="0">
                <a:srgbClr val="F6D9E3"/>
              </a:gs>
              <a:gs pos="100000">
                <a:srgbClr val="EA86AE">
                  <a:alpha val="91764"/>
                </a:srgbClr>
              </a:gs>
            </a:gsLst>
            <a:lin ang="5400000" scaled="0"/>
          </a:gradFill>
          <a:ln w="9525"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1800">
                <a:solidFill>
                  <a:schemeClr val="dk1"/>
                </a:solidFill>
                <a:latin typeface="Gill Sans"/>
                <a:ea typeface="Gill Sans"/>
                <a:cs typeface="Gill Sans"/>
                <a:sym typeface="Gill Sans"/>
              </a:rPr>
              <a:t>Estado de impotencia patrimonial para satisfacer con medios regulares las obligaciones inmediatamente exigibles (Rouillon)</a:t>
            </a:r>
            <a:endParaRPr/>
          </a:p>
        </p:txBody>
      </p:sp>
      <p:cxnSp>
        <p:nvCxnSpPr>
          <p:cNvPr id="116" name="Google Shape;116;p3"/>
          <p:cNvCxnSpPr/>
          <p:nvPr/>
        </p:nvCxnSpPr>
        <p:spPr>
          <a:xfrm>
            <a:off x="2569029" y="4539343"/>
            <a:ext cx="990600" cy="936300"/>
          </a:xfrm>
          <a:prstGeom prst="bentConnector3">
            <a:avLst>
              <a:gd name="adj1" fmla="val 50000"/>
            </a:avLst>
          </a:prstGeom>
          <a:noFill/>
          <a:ln w="15875" cap="flat" cmpd="sng">
            <a:solidFill>
              <a:schemeClr val="accent1"/>
            </a:solidFill>
            <a:prstDash val="solid"/>
            <a:round/>
            <a:headEnd type="none" w="sm" len="sm"/>
            <a:tailEnd type="triangle" w="med" len="med"/>
          </a:ln>
        </p:spPr>
      </p:cxnSp>
      <p:sp>
        <p:nvSpPr>
          <p:cNvPr id="117" name="Google Shape;117;p3"/>
          <p:cNvSpPr txBox="1"/>
          <p:nvPr/>
        </p:nvSpPr>
        <p:spPr>
          <a:xfrm>
            <a:off x="4082143" y="4691743"/>
            <a:ext cx="448491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a:solidFill>
                  <a:schemeClr val="dk1"/>
                </a:solidFill>
                <a:latin typeface="Gill Sans"/>
                <a:ea typeface="Gill Sans"/>
                <a:cs typeface="Gill Sans"/>
                <a:sym typeface="Gill Sans"/>
              </a:rPr>
              <a:t>No debe confundirse con desequilibrio aritmetico o deficit de activo en terminos absolutos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AR"/>
              <a:t>CESACION DE PAGOS</a:t>
            </a:r>
            <a:endParaRPr/>
          </a:p>
        </p:txBody>
      </p:sp>
      <p:sp>
        <p:nvSpPr>
          <p:cNvPr id="123" name="Google Shape;123;p4"/>
          <p:cNvSpPr txBox="1">
            <a:spLocks noGrp="1"/>
          </p:cNvSpPr>
          <p:nvPr>
            <p:ph idx="1"/>
          </p:nvPr>
        </p:nvSpPr>
        <p:spPr>
          <a:xfrm>
            <a:off x="1451579" y="2015732"/>
            <a:ext cx="9603275" cy="3450613"/>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20000"/>
              </a:lnSpc>
              <a:spcBef>
                <a:spcPts val="0"/>
              </a:spcBef>
              <a:spcAft>
                <a:spcPts val="0"/>
              </a:spcAft>
              <a:buSzPts val="2000"/>
              <a:buNone/>
            </a:pPr>
            <a:r>
              <a:rPr lang="es-AR"/>
              <a:t>Caracteres</a:t>
            </a:r>
            <a:endParaRPr/>
          </a:p>
          <a:p>
            <a:pPr marL="228600" lvl="0" indent="-228600" algn="l" rtl="0">
              <a:lnSpc>
                <a:spcPct val="120000"/>
              </a:lnSpc>
              <a:spcBef>
                <a:spcPts val="1000"/>
              </a:spcBef>
              <a:spcAft>
                <a:spcPts val="0"/>
              </a:spcAft>
              <a:buSzPts val="2000"/>
              <a:buChar char="•"/>
            </a:pPr>
            <a:r>
              <a:rPr lang="es-AR"/>
              <a:t>Generalidad</a:t>
            </a:r>
            <a:endParaRPr/>
          </a:p>
          <a:p>
            <a:pPr marL="685800" lvl="1" indent="-228600" algn="l" rtl="0">
              <a:lnSpc>
                <a:spcPct val="120000"/>
              </a:lnSpc>
              <a:spcBef>
                <a:spcPts val="500"/>
              </a:spcBef>
              <a:spcAft>
                <a:spcPts val="0"/>
              </a:spcAft>
              <a:buSzPts val="1800"/>
              <a:buChar char="•"/>
            </a:pPr>
            <a:r>
              <a:rPr lang="es-AR"/>
              <a:t> referida a la extension patrimonial</a:t>
            </a:r>
            <a:endParaRPr/>
          </a:p>
          <a:p>
            <a:pPr marL="685800" lvl="1" indent="-228600" algn="l" rtl="0">
              <a:lnSpc>
                <a:spcPct val="120000"/>
              </a:lnSpc>
              <a:spcBef>
                <a:spcPts val="500"/>
              </a:spcBef>
              <a:spcAft>
                <a:spcPts val="0"/>
              </a:spcAft>
              <a:buSzPts val="1800"/>
              <a:buChar char="•"/>
            </a:pPr>
            <a:r>
              <a:rPr lang="es-AR"/>
              <a:t>No interesa el numero de incumplimientos sino la afectacion de toda la situacion economica del deudor como una impotencia patrimonial</a:t>
            </a:r>
            <a:endParaRPr/>
          </a:p>
          <a:p>
            <a:pPr marL="228600" lvl="0" indent="-228600" algn="l" rtl="0">
              <a:lnSpc>
                <a:spcPct val="120000"/>
              </a:lnSpc>
              <a:spcBef>
                <a:spcPts val="1000"/>
              </a:spcBef>
              <a:spcAft>
                <a:spcPts val="0"/>
              </a:spcAft>
              <a:buSzPts val="2000"/>
              <a:buChar char="•"/>
            </a:pPr>
            <a:r>
              <a:rPr lang="es-AR"/>
              <a:t>Permanencia</a:t>
            </a:r>
            <a:endParaRPr/>
          </a:p>
          <a:p>
            <a:pPr marL="685800" lvl="1" indent="-228600" algn="l" rtl="0">
              <a:lnSpc>
                <a:spcPct val="120000"/>
              </a:lnSpc>
              <a:spcBef>
                <a:spcPts val="500"/>
              </a:spcBef>
              <a:spcAft>
                <a:spcPts val="0"/>
              </a:spcAft>
              <a:buSzPts val="1800"/>
              <a:buChar char="•"/>
            </a:pPr>
            <a:r>
              <a:rPr lang="es-AR"/>
              <a:t>Referida a la extension temporal</a:t>
            </a:r>
            <a:endParaRPr/>
          </a:p>
          <a:p>
            <a:pPr marL="685800" lvl="1" indent="-228600" algn="l" rtl="0">
              <a:lnSpc>
                <a:spcPct val="120000"/>
              </a:lnSpc>
              <a:spcBef>
                <a:spcPts val="500"/>
              </a:spcBef>
              <a:spcAft>
                <a:spcPts val="0"/>
              </a:spcAft>
              <a:buSzPts val="1800"/>
              <a:buChar char="•"/>
            </a:pPr>
            <a:r>
              <a:rPr lang="es-AR"/>
              <a:t>Si bien no es un estado perpetuo del patrimonio, tampoco es una situacion pasajera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7"/>
        <p:cNvGrpSpPr/>
        <p:nvPr/>
      </p:nvGrpSpPr>
      <p:grpSpPr>
        <a:xfrm>
          <a:off x="0" y="0"/>
          <a:ext cx="0" cy="0"/>
          <a:chOff x="0" y="0"/>
          <a:chExt cx="0" cy="0"/>
        </a:xfrm>
      </p:grpSpPr>
      <p:sp useBgFill="1">
        <p:nvSpPr>
          <p:cNvPr id="134" name="Rectangle 133">
            <a:extLst>
              <a:ext uri="{FF2B5EF4-FFF2-40B4-BE49-F238E27FC236}">
                <a16:creationId xmlns:a16="http://schemas.microsoft.com/office/drawing/2014/main" id="{BD4E11C7-7BD5-4045-AC27-3F529BEC7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28" name="Google Shape;128;p5"/>
          <p:cNvSpPr txBox="1">
            <a:spLocks noGrp="1"/>
          </p:cNvSpPr>
          <p:nvPr>
            <p:ph type="title"/>
          </p:nvPr>
        </p:nvSpPr>
        <p:spPr>
          <a:xfrm>
            <a:off x="838200" y="1115786"/>
            <a:ext cx="3473851" cy="4626428"/>
          </a:xfrm>
          <a:prstGeom prst="rect">
            <a:avLst/>
          </a:prstGeom>
          <a:effectLst/>
        </p:spPr>
        <p:txBody>
          <a:bodyPr spcFirstLastPara="1" lIns="91425" tIns="45700" rIns="91425" bIns="45700" anchor="ctr" anchorCtr="0">
            <a:normAutofit/>
          </a:bodyPr>
          <a:lstStyle/>
          <a:p>
            <a:pPr marL="0" lvl="0" indent="0" algn="r" rtl="0">
              <a:spcBef>
                <a:spcPts val="0"/>
              </a:spcBef>
              <a:spcAft>
                <a:spcPts val="0"/>
              </a:spcAft>
              <a:buClr>
                <a:schemeClr val="dk1"/>
              </a:buClr>
              <a:buSzPts val="3200"/>
              <a:buFont typeface="Gill Sans"/>
              <a:buNone/>
            </a:pPr>
            <a:r>
              <a:rPr lang="es-AR" sz="4000">
                <a:solidFill>
                  <a:schemeClr val="tx1">
                    <a:lumMod val="95000"/>
                  </a:schemeClr>
                </a:solidFill>
              </a:rPr>
              <a:t>CESACION DE PAGOS</a:t>
            </a:r>
          </a:p>
        </p:txBody>
      </p:sp>
      <p:cxnSp>
        <p:nvCxnSpPr>
          <p:cNvPr id="136" name="Straight Connector 135">
            <a:extLst>
              <a:ext uri="{FF2B5EF4-FFF2-40B4-BE49-F238E27FC236}">
                <a16:creationId xmlns:a16="http://schemas.microsoft.com/office/drawing/2014/main" id="{21FCCE20-1E4F-44FF-87B4-379D391A2D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32907"/>
            <a:ext cx="0" cy="279218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29" name="Google Shape;129;p5"/>
          <p:cNvSpPr txBox="1">
            <a:spLocks noGrp="1"/>
          </p:cNvSpPr>
          <p:nvPr>
            <p:ph idx="1"/>
          </p:nvPr>
        </p:nvSpPr>
        <p:spPr>
          <a:xfrm>
            <a:off x="4996543" y="1115786"/>
            <a:ext cx="5713790" cy="4626428"/>
          </a:xfrm>
          <a:prstGeom prst="rect">
            <a:avLst/>
          </a:prstGeom>
        </p:spPr>
        <p:txBody>
          <a:bodyPr spcFirstLastPara="1" lIns="91425" tIns="45700" rIns="91425" bIns="45700" anchor="ctr" anchorCtr="0">
            <a:normAutofit/>
          </a:bodyPr>
          <a:lstStyle/>
          <a:p>
            <a:pPr marL="228600" lvl="0" indent="-228600" rtl="0">
              <a:spcBef>
                <a:spcPts val="0"/>
              </a:spcBef>
              <a:spcAft>
                <a:spcPts val="0"/>
              </a:spcAft>
              <a:buSzPct val="100000"/>
              <a:buChar char="•"/>
            </a:pPr>
            <a:r>
              <a:rPr lang="es-MX" sz="1600">
                <a:solidFill>
                  <a:schemeClr val="tx1">
                    <a:lumMod val="95000"/>
                  </a:schemeClr>
                </a:solidFill>
              </a:rPr>
              <a:t>ARTICULO 79.- Hechos reveladores. Pueden ser considerados hechos reveladores del estado de cesación de pagos, entro otros:</a:t>
            </a:r>
          </a:p>
          <a:p>
            <a:pPr marL="228600" lvl="0" indent="-228600" rtl="0">
              <a:spcBef>
                <a:spcPts val="1000"/>
              </a:spcBef>
              <a:spcAft>
                <a:spcPts val="0"/>
              </a:spcAft>
              <a:buSzPct val="100000"/>
              <a:buChar char="•"/>
            </a:pPr>
            <a:r>
              <a:rPr lang="es-MX" sz="1600">
                <a:solidFill>
                  <a:schemeClr val="tx1">
                    <a:lumMod val="95000"/>
                  </a:schemeClr>
                </a:solidFill>
              </a:rPr>
              <a:t>1) Reconocimiento judicial o extrajudicial del mismo, efectuado por el deudor.</a:t>
            </a:r>
          </a:p>
          <a:p>
            <a:pPr marL="228600" lvl="0" indent="-228600" rtl="0">
              <a:spcBef>
                <a:spcPts val="1000"/>
              </a:spcBef>
              <a:spcAft>
                <a:spcPts val="0"/>
              </a:spcAft>
              <a:buSzPct val="100000"/>
              <a:buChar char="•"/>
            </a:pPr>
            <a:r>
              <a:rPr lang="es-MX" sz="1600">
                <a:solidFill>
                  <a:schemeClr val="tx1">
                    <a:lumMod val="95000"/>
                  </a:schemeClr>
                </a:solidFill>
              </a:rPr>
              <a:t>2) Mora en el cumplimiento de una obligación.</a:t>
            </a:r>
          </a:p>
          <a:p>
            <a:pPr marL="228600" lvl="0" indent="-228600" rtl="0">
              <a:spcBef>
                <a:spcPts val="1000"/>
              </a:spcBef>
              <a:spcAft>
                <a:spcPts val="0"/>
              </a:spcAft>
              <a:buSzPct val="100000"/>
              <a:buChar char="•"/>
            </a:pPr>
            <a:r>
              <a:rPr lang="es-MX" sz="1600">
                <a:solidFill>
                  <a:schemeClr val="tx1">
                    <a:lumMod val="95000"/>
                  </a:schemeClr>
                </a:solidFill>
              </a:rPr>
              <a:t>3) Ocultación o ausencia del deudor o de los administradores de la sociedad, en su caso, sin dejar representante con facultades y medios suficientes para cumplir sus obligaciones.</a:t>
            </a:r>
          </a:p>
          <a:p>
            <a:pPr marL="228600" lvl="0" indent="-228600" rtl="0">
              <a:spcBef>
                <a:spcPts val="1000"/>
              </a:spcBef>
              <a:spcAft>
                <a:spcPts val="0"/>
              </a:spcAft>
              <a:buSzPct val="100000"/>
              <a:buChar char="•"/>
            </a:pPr>
            <a:r>
              <a:rPr lang="es-MX" sz="1600">
                <a:solidFill>
                  <a:schemeClr val="tx1">
                    <a:lumMod val="95000"/>
                  </a:schemeClr>
                </a:solidFill>
              </a:rPr>
              <a:t>4) Clausura de la sede de la administración o del establecimiento donde el deudor desarrolle su actividad.</a:t>
            </a:r>
          </a:p>
          <a:p>
            <a:pPr marL="228600" lvl="0" indent="-228600" rtl="0">
              <a:spcBef>
                <a:spcPts val="1000"/>
              </a:spcBef>
              <a:spcAft>
                <a:spcPts val="0"/>
              </a:spcAft>
              <a:buSzPct val="100000"/>
              <a:buChar char="•"/>
            </a:pPr>
            <a:r>
              <a:rPr lang="es-MX" sz="1600">
                <a:solidFill>
                  <a:schemeClr val="tx1">
                    <a:lumMod val="95000"/>
                  </a:schemeClr>
                </a:solidFill>
              </a:rPr>
              <a:t>5) Venta a precio vil, ocultación o entrega de bienes en pago.</a:t>
            </a:r>
          </a:p>
          <a:p>
            <a:pPr marL="228600" lvl="0" indent="-228600" rtl="0">
              <a:spcBef>
                <a:spcPts val="1000"/>
              </a:spcBef>
              <a:spcAft>
                <a:spcPts val="0"/>
              </a:spcAft>
              <a:buSzPct val="100000"/>
              <a:buChar char="•"/>
            </a:pPr>
            <a:r>
              <a:rPr lang="es-MX" sz="1600">
                <a:solidFill>
                  <a:schemeClr val="tx1">
                    <a:lumMod val="95000"/>
                  </a:schemeClr>
                </a:solidFill>
              </a:rPr>
              <a:t>6) Revocación judicial de actos realizados en fraude de los acreedores.</a:t>
            </a:r>
          </a:p>
          <a:p>
            <a:pPr marL="228600" lvl="0" indent="-228600" rtl="0">
              <a:spcBef>
                <a:spcPts val="1000"/>
              </a:spcBef>
              <a:spcAft>
                <a:spcPts val="0"/>
              </a:spcAft>
              <a:buSzPct val="100000"/>
              <a:buChar char="•"/>
            </a:pPr>
            <a:r>
              <a:rPr lang="es-MX" sz="1600">
                <a:solidFill>
                  <a:schemeClr val="tx1">
                    <a:lumMod val="95000"/>
                  </a:schemeClr>
                </a:solidFill>
              </a:rPr>
              <a:t>7) Cualquier medio ruinoso o fraudulento empleado para obtener recursos.</a:t>
            </a:r>
          </a:p>
          <a:p>
            <a:pPr marL="0" lvl="0" indent="0" rtl="0">
              <a:spcBef>
                <a:spcPts val="1000"/>
              </a:spcBef>
              <a:spcAft>
                <a:spcPts val="0"/>
              </a:spcAft>
              <a:buSzPct val="100000"/>
              <a:buNone/>
            </a:pPr>
            <a:endParaRPr lang="es-MX" sz="1600">
              <a:solidFill>
                <a:schemeClr val="tx1">
                  <a:lumMod val="9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33"/>
        <p:cNvGrpSpPr/>
        <p:nvPr/>
      </p:nvGrpSpPr>
      <p:grpSpPr>
        <a:xfrm>
          <a:off x="0" y="0"/>
          <a:ext cx="0" cy="0"/>
          <a:chOff x="0" y="0"/>
          <a:chExt cx="0" cy="0"/>
        </a:xfrm>
      </p:grpSpPr>
      <p:sp>
        <p:nvSpPr>
          <p:cNvPr id="134" name="Google Shape;134;p6"/>
          <p:cNvSpPr txBox="1">
            <a:spLocks noGrp="1"/>
          </p:cNvSpPr>
          <p:nvPr>
            <p:ph type="title"/>
          </p:nvPr>
        </p:nvSpPr>
        <p:spPr>
          <a:xfrm>
            <a:off x="4702628" y="365125"/>
            <a:ext cx="6651171" cy="1325563"/>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3200"/>
              <a:buFont typeface="Gill Sans"/>
              <a:buNone/>
            </a:pPr>
            <a:r>
              <a:rPr lang="es-AR"/>
              <a:t>CESACION DE PAGOS</a:t>
            </a:r>
          </a:p>
        </p:txBody>
      </p:sp>
      <p:sp>
        <p:nvSpPr>
          <p:cNvPr id="135" name="Google Shape;135;p6"/>
          <p:cNvSpPr txBox="1">
            <a:spLocks noGrp="1"/>
          </p:cNvSpPr>
          <p:nvPr>
            <p:ph idx="1"/>
          </p:nvPr>
        </p:nvSpPr>
        <p:spPr>
          <a:xfrm>
            <a:off x="4983480" y="1825625"/>
            <a:ext cx="6487886" cy="4351338"/>
          </a:xfrm>
          <a:prstGeom prst="rect">
            <a:avLst/>
          </a:prstGeom>
        </p:spPr>
        <p:txBody>
          <a:bodyPr spcFirstLastPara="1" lIns="91425" tIns="45700" rIns="91425" bIns="45700" anchorCtr="0">
            <a:normAutofit/>
          </a:bodyPr>
          <a:lstStyle/>
          <a:p>
            <a:pPr marL="228600" lvl="0" indent="-228600" rtl="0">
              <a:spcBef>
                <a:spcPts val="0"/>
              </a:spcBef>
              <a:spcAft>
                <a:spcPts val="0"/>
              </a:spcAft>
              <a:buSzPts val="2000"/>
              <a:buChar char="•"/>
            </a:pPr>
            <a:r>
              <a:rPr lang="es-AR"/>
              <a:t>El legislador ha hecho una enumeracion ejemplificativa de hechos que funcionan como presunciones relativas o indicios</a:t>
            </a:r>
          </a:p>
          <a:p>
            <a:pPr marL="228600" lvl="0" indent="-228600" rtl="0">
              <a:spcBef>
                <a:spcPts val="1000"/>
              </a:spcBef>
              <a:spcAft>
                <a:spcPts val="0"/>
              </a:spcAft>
              <a:buSzPts val="2000"/>
              <a:buChar char="•"/>
            </a:pPr>
            <a:r>
              <a:rPr lang="es-AR"/>
              <a:t>Sistema flexible</a:t>
            </a:r>
          </a:p>
          <a:p>
            <a:pPr marL="228600" lvl="0" indent="-228600" rtl="0">
              <a:spcBef>
                <a:spcPts val="1000"/>
              </a:spcBef>
              <a:spcAft>
                <a:spcPts val="0"/>
              </a:spcAft>
              <a:buSzPts val="2000"/>
              <a:buChar char="•"/>
            </a:pPr>
            <a:r>
              <a:rPr lang="es-AR"/>
              <a:t>Critica al sistema </a:t>
            </a:r>
          </a:p>
          <a:p>
            <a:pPr marL="685800" lvl="1" indent="-228600" rtl="0">
              <a:spcBef>
                <a:spcPts val="500"/>
              </a:spcBef>
              <a:spcAft>
                <a:spcPts val="0"/>
              </a:spcAft>
              <a:buSzPts val="1800"/>
              <a:buChar char="•"/>
            </a:pPr>
            <a:r>
              <a:rPr lang="es-AR"/>
              <a:t>es amplia la interpretacion</a:t>
            </a:r>
          </a:p>
          <a:p>
            <a:pPr marL="228600" lvl="0" indent="-101600" rtl="0">
              <a:spcBef>
                <a:spcPts val="1000"/>
              </a:spcBef>
              <a:spcAft>
                <a:spcPts val="0"/>
              </a:spcAft>
              <a:buSzPts val="2000"/>
              <a:buNone/>
            </a:pPr>
            <a:endParaRPr lang="es-AR"/>
          </a:p>
          <a:p>
            <a:pPr marL="0" lvl="0" indent="0" rtl="0">
              <a:spcBef>
                <a:spcPts val="1000"/>
              </a:spcBef>
              <a:spcAft>
                <a:spcPts val="0"/>
              </a:spcAft>
              <a:buSzPts val="2000"/>
              <a:buNone/>
            </a:pPr>
            <a:endParaRPr lang="es-AR"/>
          </a:p>
        </p:txBody>
      </p:sp>
      <p:pic>
        <p:nvPicPr>
          <p:cNvPr id="137" name="Picture 136" descr="Manos ancianas con algunas monedas">
            <a:extLst>
              <a:ext uri="{FF2B5EF4-FFF2-40B4-BE49-F238E27FC236}">
                <a16:creationId xmlns:a16="http://schemas.microsoft.com/office/drawing/2014/main" id="{3DB670AC-8A77-AB00-4118-2A2725B1EDA3}"/>
              </a:ext>
            </a:extLst>
          </p:cNvPr>
          <p:cNvPicPr>
            <a:picLocks noChangeAspect="1"/>
          </p:cNvPicPr>
          <p:nvPr/>
        </p:nvPicPr>
        <p:blipFill>
          <a:blip r:embed="rId4"/>
          <a:srcRect l="18404" r="39320" b="-1"/>
          <a:stretch>
            <a:fillRect/>
          </a:stretch>
        </p:blipFill>
        <p:spPr>
          <a:xfrm>
            <a:off x="20" y="10"/>
            <a:ext cx="4343380" cy="68579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3200"/>
              <a:buFont typeface="Gill Sans"/>
              <a:buNone/>
            </a:pPr>
            <a:r>
              <a:rPr lang="es-AR"/>
              <a:t>CESACION DE PAGOS – TEORIA MATERIALISTA</a:t>
            </a:r>
            <a:endParaRPr/>
          </a:p>
        </p:txBody>
      </p:sp>
      <p:sp>
        <p:nvSpPr>
          <p:cNvPr id="141" name="Google Shape;141;p7"/>
          <p:cNvSpPr txBox="1">
            <a:spLocks noGrp="1"/>
          </p:cNvSpPr>
          <p:nvPr>
            <p:ph idx="1"/>
          </p:nvPr>
        </p:nvSpPr>
        <p:spPr>
          <a:xfrm>
            <a:off x="1451579" y="2015732"/>
            <a:ext cx="9603275" cy="2730439"/>
          </a:xfrm>
          <a:prstGeom prst="rect">
            <a:avLst/>
          </a:prstGeom>
          <a:noFill/>
          <a:ln>
            <a:noFill/>
          </a:ln>
        </p:spPr>
        <p:txBody>
          <a:bodyPr spcFirstLastPara="1" wrap="square" lIns="91425" tIns="45700" rIns="91425" bIns="45700" anchor="t" anchorCtr="0">
            <a:normAutofit fontScale="62500" lnSpcReduction="20000"/>
          </a:bodyPr>
          <a:lstStyle/>
          <a:p>
            <a:pPr marL="228600" lvl="0" indent="-228600" algn="l" rtl="0">
              <a:lnSpc>
                <a:spcPct val="120000"/>
              </a:lnSpc>
              <a:spcBef>
                <a:spcPts val="0"/>
              </a:spcBef>
              <a:spcAft>
                <a:spcPts val="0"/>
              </a:spcAft>
              <a:buSzPct val="100000"/>
              <a:buChar char="•"/>
            </a:pPr>
            <a:r>
              <a:rPr lang="es-AR"/>
              <a:t>Identifica la cesacion de pagos con incumplimiento</a:t>
            </a:r>
            <a:endParaRPr/>
          </a:p>
          <a:p>
            <a:pPr marL="228600" lvl="0" indent="-228600" algn="l" rtl="0">
              <a:lnSpc>
                <a:spcPct val="120000"/>
              </a:lnSpc>
              <a:spcBef>
                <a:spcPts val="1000"/>
              </a:spcBef>
              <a:spcAft>
                <a:spcPts val="0"/>
              </a:spcAft>
              <a:buSzPct val="100000"/>
              <a:buChar char="•"/>
            </a:pPr>
            <a:r>
              <a:rPr lang="es-AR"/>
              <a:t>Ventajas</a:t>
            </a:r>
            <a:endParaRPr/>
          </a:p>
          <a:p>
            <a:pPr marL="685800" lvl="1" indent="-228600" algn="l" rtl="0">
              <a:lnSpc>
                <a:spcPct val="120000"/>
              </a:lnSpc>
              <a:spcBef>
                <a:spcPts val="500"/>
              </a:spcBef>
              <a:spcAft>
                <a:spcPts val="0"/>
              </a:spcAft>
              <a:buSzPct val="100000"/>
              <a:buChar char="•"/>
            </a:pPr>
            <a:r>
              <a:rPr lang="es-AR"/>
              <a:t>Simplicidad</a:t>
            </a:r>
            <a:endParaRPr/>
          </a:p>
          <a:p>
            <a:pPr marL="685800" lvl="1" indent="-228600" algn="l" rtl="0">
              <a:lnSpc>
                <a:spcPct val="120000"/>
              </a:lnSpc>
              <a:spcBef>
                <a:spcPts val="500"/>
              </a:spcBef>
              <a:spcAft>
                <a:spcPts val="0"/>
              </a:spcAft>
              <a:buSzPct val="100000"/>
              <a:buChar char="•"/>
            </a:pPr>
            <a:r>
              <a:rPr lang="es-AR"/>
              <a:t>Facil y previsible la labor del juez</a:t>
            </a:r>
            <a:endParaRPr/>
          </a:p>
          <a:p>
            <a:pPr marL="228600" lvl="0" indent="-228600" algn="l" rtl="0">
              <a:lnSpc>
                <a:spcPct val="120000"/>
              </a:lnSpc>
              <a:spcBef>
                <a:spcPts val="1000"/>
              </a:spcBef>
              <a:spcAft>
                <a:spcPts val="0"/>
              </a:spcAft>
              <a:buSzPct val="100000"/>
              <a:buChar char="•"/>
            </a:pPr>
            <a:r>
              <a:rPr lang="es-AR"/>
              <a:t>Criticas</a:t>
            </a:r>
            <a:endParaRPr/>
          </a:p>
          <a:p>
            <a:pPr marL="685800" lvl="1" indent="-228600" algn="l" rtl="0">
              <a:lnSpc>
                <a:spcPct val="120000"/>
              </a:lnSpc>
              <a:spcBef>
                <a:spcPts val="500"/>
              </a:spcBef>
              <a:spcAft>
                <a:spcPts val="0"/>
              </a:spcAft>
              <a:buSzPct val="100000"/>
              <a:buChar char="•"/>
            </a:pPr>
            <a:r>
              <a:rPr lang="es-AR"/>
              <a:t>Puede conducir a consecuencias injustas</a:t>
            </a:r>
            <a:endParaRPr/>
          </a:p>
          <a:p>
            <a:pPr marL="685800" lvl="1" indent="-228600" algn="l" rtl="0">
              <a:lnSpc>
                <a:spcPct val="120000"/>
              </a:lnSpc>
              <a:spcBef>
                <a:spcPts val="500"/>
              </a:spcBef>
              <a:spcAft>
                <a:spcPts val="0"/>
              </a:spcAft>
              <a:buSzPct val="100000"/>
              <a:buChar char="•"/>
            </a:pPr>
            <a:r>
              <a:rPr lang="es-AR"/>
              <a:t>Desconoce origen historico de la quiebra (referido a estado, no mero incumplimiento)</a:t>
            </a:r>
            <a:endParaRPr/>
          </a:p>
          <a:p>
            <a:pPr marL="685800" lvl="1" indent="-228600" algn="l" rtl="0">
              <a:lnSpc>
                <a:spcPct val="120000"/>
              </a:lnSpc>
              <a:spcBef>
                <a:spcPts val="500"/>
              </a:spcBef>
              <a:spcAft>
                <a:spcPts val="0"/>
              </a:spcAft>
              <a:buSzPct val="100000"/>
              <a:buChar char="•"/>
            </a:pPr>
            <a:r>
              <a:rPr lang="es-AR"/>
              <a:t>Desconoce fundamento economico juridico (no se busca liquidar un patrimonio por un incumplimiento)</a:t>
            </a:r>
            <a:endParaRPr/>
          </a:p>
        </p:txBody>
      </p:sp>
      <p:sp>
        <p:nvSpPr>
          <p:cNvPr id="142" name="Google Shape;142;p7"/>
          <p:cNvSpPr txBox="1"/>
          <p:nvPr/>
        </p:nvSpPr>
        <p:spPr>
          <a:xfrm>
            <a:off x="1527779" y="4908149"/>
            <a:ext cx="9603275" cy="461665"/>
          </a:xfrm>
          <a:prstGeom prst="rect">
            <a:avLst/>
          </a:prstGeom>
          <a:solidFill>
            <a:schemeClr val="accent2"/>
          </a:solidFill>
          <a:ln w="15875" cap="flat" cmpd="sng">
            <a:solidFill>
              <a:srgbClr val="A23367"/>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a:solidFill>
                  <a:schemeClr val="lt1"/>
                </a:solidFill>
                <a:latin typeface="Gill Sans"/>
                <a:ea typeface="Gill Sans"/>
                <a:cs typeface="Gill Sans"/>
                <a:sym typeface="Gill Sans"/>
              </a:rPr>
              <a:t>Incumplimiento (de cualquier entidad) = Cesacion de pagos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3200"/>
              <a:buFont typeface="Gill Sans"/>
              <a:buNone/>
            </a:pPr>
            <a:r>
              <a:rPr lang="es-AR"/>
              <a:t>CESACION DE PAGOS – TEORIA INTERMEDIA</a:t>
            </a:r>
            <a:endParaRPr/>
          </a:p>
        </p:txBody>
      </p:sp>
      <p:sp>
        <p:nvSpPr>
          <p:cNvPr id="148" name="Google Shape;148;p8"/>
          <p:cNvSpPr txBox="1">
            <a:spLocks noGrp="1"/>
          </p:cNvSpPr>
          <p:nvPr>
            <p:ph idx="1"/>
          </p:nvPr>
        </p:nvSpPr>
        <p:spPr>
          <a:xfrm>
            <a:off x="1451579" y="2015732"/>
            <a:ext cx="9603275" cy="2512725"/>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120000"/>
              </a:lnSpc>
              <a:spcBef>
                <a:spcPts val="0"/>
              </a:spcBef>
              <a:spcAft>
                <a:spcPts val="0"/>
              </a:spcAft>
              <a:buSzPct val="100000"/>
              <a:buChar char="•"/>
            </a:pPr>
            <a:r>
              <a:rPr lang="es-AR"/>
              <a:t>Relacion entre incumplimiento y cesacion de pagos es menos automatica que en anterior</a:t>
            </a:r>
            <a:endParaRPr/>
          </a:p>
          <a:p>
            <a:pPr marL="228600" lvl="0" indent="-228600" algn="l" rtl="0">
              <a:lnSpc>
                <a:spcPct val="120000"/>
              </a:lnSpc>
              <a:spcBef>
                <a:spcPts val="1000"/>
              </a:spcBef>
              <a:spcAft>
                <a:spcPts val="0"/>
              </a:spcAft>
              <a:buSzPct val="100000"/>
              <a:buChar char="•"/>
            </a:pPr>
            <a:r>
              <a:rPr lang="es-AR"/>
              <a:t>De todas formas la CP solo se revela por incumplimientos</a:t>
            </a:r>
            <a:endParaRPr/>
          </a:p>
          <a:p>
            <a:pPr marL="0" lvl="0" indent="0" algn="l" rtl="0">
              <a:lnSpc>
                <a:spcPct val="120000"/>
              </a:lnSpc>
              <a:spcBef>
                <a:spcPts val="1000"/>
              </a:spcBef>
              <a:spcAft>
                <a:spcPts val="0"/>
              </a:spcAft>
              <a:buSzPct val="100000"/>
              <a:buNone/>
            </a:pPr>
            <a:r>
              <a:rPr lang="es-AR"/>
              <a:t>Ventajas</a:t>
            </a:r>
            <a:endParaRPr/>
          </a:p>
          <a:p>
            <a:pPr marL="228600" lvl="0" indent="-228600" algn="l" rtl="0">
              <a:lnSpc>
                <a:spcPct val="120000"/>
              </a:lnSpc>
              <a:spcBef>
                <a:spcPts val="1000"/>
              </a:spcBef>
              <a:spcAft>
                <a:spcPts val="0"/>
              </a:spcAft>
              <a:buSzPct val="100000"/>
              <a:buChar char="•"/>
            </a:pPr>
            <a:r>
              <a:rPr lang="es-AR"/>
              <a:t>Mas flexible que la teoria materialista</a:t>
            </a:r>
            <a:endParaRPr/>
          </a:p>
          <a:p>
            <a:pPr marL="0" lvl="0" indent="0" algn="l" rtl="0">
              <a:lnSpc>
                <a:spcPct val="120000"/>
              </a:lnSpc>
              <a:spcBef>
                <a:spcPts val="1000"/>
              </a:spcBef>
              <a:spcAft>
                <a:spcPts val="0"/>
              </a:spcAft>
              <a:buSzPct val="100000"/>
              <a:buNone/>
            </a:pPr>
            <a:r>
              <a:rPr lang="es-AR"/>
              <a:t>Criticas</a:t>
            </a:r>
            <a:endParaRPr/>
          </a:p>
          <a:p>
            <a:pPr marL="228600" lvl="0" indent="-228600" algn="l" rtl="0">
              <a:lnSpc>
                <a:spcPct val="120000"/>
              </a:lnSpc>
              <a:spcBef>
                <a:spcPts val="1000"/>
              </a:spcBef>
              <a:spcAft>
                <a:spcPts val="0"/>
              </a:spcAft>
              <a:buSzPct val="100000"/>
              <a:buChar char="•"/>
            </a:pPr>
            <a:r>
              <a:rPr lang="es-AR"/>
              <a:t>No admite otros hechos que puedan demostrar a insolvencia</a:t>
            </a:r>
            <a:endParaRPr/>
          </a:p>
          <a:p>
            <a:pPr marL="228600" lvl="0" indent="-228600" algn="l" rtl="0">
              <a:lnSpc>
                <a:spcPct val="120000"/>
              </a:lnSpc>
              <a:spcBef>
                <a:spcPts val="1000"/>
              </a:spcBef>
              <a:spcAft>
                <a:spcPts val="0"/>
              </a:spcAft>
              <a:buSzPct val="100000"/>
              <a:buChar char="•"/>
            </a:pPr>
            <a:r>
              <a:rPr lang="es-AR"/>
              <a:t>Puede demorar la declaracion de quiebra</a:t>
            </a:r>
            <a:endParaRPr/>
          </a:p>
          <a:p>
            <a:pPr marL="0" lvl="0" indent="0" algn="l" rtl="0">
              <a:lnSpc>
                <a:spcPct val="120000"/>
              </a:lnSpc>
              <a:spcBef>
                <a:spcPts val="1000"/>
              </a:spcBef>
              <a:spcAft>
                <a:spcPts val="0"/>
              </a:spcAft>
              <a:buSzPct val="100000"/>
              <a:buNone/>
            </a:pPr>
            <a:endParaRPr/>
          </a:p>
          <a:p>
            <a:pPr marL="228600" lvl="0" indent="-139700" algn="l" rtl="0">
              <a:lnSpc>
                <a:spcPct val="120000"/>
              </a:lnSpc>
              <a:spcBef>
                <a:spcPts val="1000"/>
              </a:spcBef>
              <a:spcAft>
                <a:spcPts val="0"/>
              </a:spcAft>
              <a:buSzPct val="100000"/>
              <a:buNone/>
            </a:pPr>
            <a:endParaRPr/>
          </a:p>
        </p:txBody>
      </p:sp>
      <p:sp>
        <p:nvSpPr>
          <p:cNvPr id="149" name="Google Shape;149;p8"/>
          <p:cNvSpPr txBox="1"/>
          <p:nvPr/>
        </p:nvSpPr>
        <p:spPr>
          <a:xfrm>
            <a:off x="1085644" y="4912347"/>
            <a:ext cx="10224613" cy="1107996"/>
          </a:xfrm>
          <a:prstGeom prst="rect">
            <a:avLst/>
          </a:prstGeom>
          <a:solidFill>
            <a:schemeClr val="accent2"/>
          </a:solidFill>
          <a:ln w="15875" cap="flat" cmpd="sng">
            <a:solidFill>
              <a:srgbClr val="A23367"/>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a:solidFill>
                  <a:schemeClr val="lt1"/>
                </a:solidFill>
                <a:latin typeface="Gill Sans"/>
                <a:ea typeface="Gill Sans"/>
                <a:cs typeface="Gill Sans"/>
                <a:sym typeface="Gill Sans"/>
              </a:rPr>
              <a:t>No hay cesacion de pagos sin incumplimiento, pero no todo incumplimiento importa la cesacion de pagos</a:t>
            </a:r>
            <a:endParaRPr/>
          </a:p>
          <a:p>
            <a:pPr marL="0" marR="0" lvl="0" indent="0" algn="ctr" rtl="0">
              <a:spcBef>
                <a:spcPts val="0"/>
              </a:spcBef>
              <a:spcAft>
                <a:spcPts val="0"/>
              </a:spcAft>
              <a:buNone/>
            </a:pPr>
            <a:endParaRPr sz="2400">
              <a:solidFill>
                <a:schemeClr val="lt1"/>
              </a:solidFill>
              <a:latin typeface="Gill Sans"/>
              <a:ea typeface="Gill Sans"/>
              <a:cs typeface="Gill Sans"/>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3200"/>
              <a:buFont typeface="Gill Sans"/>
              <a:buNone/>
            </a:pPr>
            <a:r>
              <a:rPr lang="es-AR"/>
              <a:t>CESACION DE PAGOS – TEORIA AMPLIA</a:t>
            </a:r>
            <a:endParaRPr/>
          </a:p>
        </p:txBody>
      </p:sp>
      <p:sp>
        <p:nvSpPr>
          <p:cNvPr id="155" name="Google Shape;155;p9"/>
          <p:cNvSpPr txBox="1">
            <a:spLocks noGrp="1"/>
          </p:cNvSpPr>
          <p:nvPr>
            <p:ph idx="1"/>
          </p:nvPr>
        </p:nvSpPr>
        <p:spPr>
          <a:xfrm>
            <a:off x="1451579" y="2015733"/>
            <a:ext cx="9603275" cy="2262354"/>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s-AR"/>
              <a:t>Considera a la Cesacion de pagos como un estado del patrimonio que se revela por hechos exteriores</a:t>
            </a:r>
            <a:endParaRPr/>
          </a:p>
          <a:p>
            <a:pPr marL="228600" lvl="0" indent="-228600" algn="l" rtl="0">
              <a:lnSpc>
                <a:spcPct val="120000"/>
              </a:lnSpc>
              <a:spcBef>
                <a:spcPts val="1000"/>
              </a:spcBef>
              <a:spcAft>
                <a:spcPts val="0"/>
              </a:spcAft>
              <a:buSzPts val="2000"/>
              <a:buChar char="•"/>
            </a:pPr>
            <a:r>
              <a:rPr lang="es-AR"/>
              <a:t>La CP no es un hecho sino un estado de todo el patrimonio</a:t>
            </a:r>
            <a:endParaRPr/>
          </a:p>
          <a:p>
            <a:pPr marL="228600" lvl="0" indent="-101600" algn="l" rtl="0">
              <a:lnSpc>
                <a:spcPct val="120000"/>
              </a:lnSpc>
              <a:spcBef>
                <a:spcPts val="1000"/>
              </a:spcBef>
              <a:spcAft>
                <a:spcPts val="0"/>
              </a:spcAft>
              <a:buSzPts val="2000"/>
              <a:buNone/>
            </a:pPr>
            <a:endParaRPr/>
          </a:p>
        </p:txBody>
      </p:sp>
      <p:sp>
        <p:nvSpPr>
          <p:cNvPr id="156" name="Google Shape;156;p9"/>
          <p:cNvSpPr txBox="1"/>
          <p:nvPr/>
        </p:nvSpPr>
        <p:spPr>
          <a:xfrm>
            <a:off x="1589314" y="4726117"/>
            <a:ext cx="9329057" cy="461665"/>
          </a:xfrm>
          <a:prstGeom prst="rect">
            <a:avLst/>
          </a:prstGeom>
          <a:solidFill>
            <a:schemeClr val="accent2"/>
          </a:solidFill>
          <a:ln w="15875" cap="flat" cmpd="sng">
            <a:solidFill>
              <a:srgbClr val="A23367"/>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a:solidFill>
                  <a:schemeClr val="lt1"/>
                </a:solidFill>
                <a:latin typeface="Gill Sans"/>
                <a:ea typeface="Gill Sans"/>
                <a:cs typeface="Gill Sans"/>
                <a:sym typeface="Gill Sans"/>
              </a:rPr>
              <a:t>El incumplimiento es un hecho revelador más.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0"/>
        <p:cNvGrpSpPr/>
        <p:nvPr/>
      </p:nvGrpSpPr>
      <p:grpSpPr>
        <a:xfrm>
          <a:off x="0" y="0"/>
          <a:ext cx="0" cy="0"/>
          <a:chOff x="0" y="0"/>
          <a:chExt cx="0" cy="0"/>
        </a:xfrm>
      </p:grpSpPr>
      <p:sp useBgFill="1">
        <p:nvSpPr>
          <p:cNvPr id="167" name="Rectangle 166">
            <a:extLst>
              <a:ext uri="{FF2B5EF4-FFF2-40B4-BE49-F238E27FC236}">
                <a16:creationId xmlns:a16="http://schemas.microsoft.com/office/drawing/2014/main" id="{BD4E11C7-7BD5-4045-AC27-3F529BEC7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1" name="Google Shape;161;p10"/>
          <p:cNvSpPr txBox="1">
            <a:spLocks noGrp="1"/>
          </p:cNvSpPr>
          <p:nvPr>
            <p:ph type="title"/>
          </p:nvPr>
        </p:nvSpPr>
        <p:spPr>
          <a:xfrm>
            <a:off x="838200" y="1115786"/>
            <a:ext cx="3473851" cy="4626428"/>
          </a:xfrm>
          <a:prstGeom prst="rect">
            <a:avLst/>
          </a:prstGeom>
          <a:effectLst/>
        </p:spPr>
        <p:txBody>
          <a:bodyPr spcFirstLastPara="1" lIns="91425" tIns="45700" rIns="91425" bIns="45700" anchor="ctr" anchorCtr="0">
            <a:normAutofit/>
          </a:bodyPr>
          <a:lstStyle/>
          <a:p>
            <a:pPr marL="0" lvl="0" indent="0" algn="r" rtl="0">
              <a:spcBef>
                <a:spcPts val="0"/>
              </a:spcBef>
              <a:spcAft>
                <a:spcPts val="0"/>
              </a:spcAft>
              <a:buClr>
                <a:schemeClr val="dk1"/>
              </a:buClr>
              <a:buSzPts val="3200"/>
              <a:buFont typeface="Gill Sans"/>
              <a:buNone/>
            </a:pPr>
            <a:r>
              <a:rPr lang="es-AR" sz="4000">
                <a:solidFill>
                  <a:schemeClr val="tx1">
                    <a:lumMod val="95000"/>
                  </a:schemeClr>
                </a:solidFill>
              </a:rPr>
              <a:t>CESACION DE PAGOS </a:t>
            </a:r>
          </a:p>
        </p:txBody>
      </p:sp>
      <p:cxnSp>
        <p:nvCxnSpPr>
          <p:cNvPr id="169" name="Straight Connector 168">
            <a:extLst>
              <a:ext uri="{FF2B5EF4-FFF2-40B4-BE49-F238E27FC236}">
                <a16:creationId xmlns:a16="http://schemas.microsoft.com/office/drawing/2014/main" id="{21FCCE20-1E4F-44FF-87B4-379D391A2D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32907"/>
            <a:ext cx="0" cy="279218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2" name="Google Shape;162;p10"/>
          <p:cNvSpPr txBox="1">
            <a:spLocks noGrp="1"/>
          </p:cNvSpPr>
          <p:nvPr>
            <p:ph idx="1"/>
          </p:nvPr>
        </p:nvSpPr>
        <p:spPr>
          <a:xfrm>
            <a:off x="4996543" y="1115786"/>
            <a:ext cx="5713790" cy="4626428"/>
          </a:xfrm>
          <a:prstGeom prst="rect">
            <a:avLst/>
          </a:prstGeom>
        </p:spPr>
        <p:txBody>
          <a:bodyPr spcFirstLastPara="1" lIns="91425" tIns="45700" rIns="91425" bIns="45700" anchor="ctr" anchorCtr="0">
            <a:normAutofit/>
          </a:bodyPr>
          <a:lstStyle/>
          <a:p>
            <a:pPr marL="228600" lvl="0" indent="-228600" rtl="0">
              <a:spcBef>
                <a:spcPts val="0"/>
              </a:spcBef>
              <a:spcAft>
                <a:spcPts val="0"/>
              </a:spcAft>
              <a:buSzPts val="2000"/>
              <a:buChar char="•"/>
            </a:pPr>
            <a:r>
              <a:rPr lang="es-MX" sz="2000">
                <a:solidFill>
                  <a:schemeClr val="tx1">
                    <a:lumMod val="95000"/>
                  </a:schemeClr>
                </a:solidFill>
              </a:rPr>
              <a:t>La ley 24522 adopta a teoria amplia del estado de cesacion de pagos (lo adopta como presupuesto objetivo articulo 1). Se manifiesta en los hechos reveladores enunciados en el articulo 79</a:t>
            </a:r>
          </a:p>
          <a:p>
            <a:pPr marL="228600" lvl="0" indent="-228600" rtl="0">
              <a:spcBef>
                <a:spcPts val="1000"/>
              </a:spcBef>
              <a:spcAft>
                <a:spcPts val="0"/>
              </a:spcAft>
              <a:buSzPts val="2000"/>
              <a:buChar char="•"/>
            </a:pPr>
            <a:r>
              <a:rPr lang="es-MX" sz="2000">
                <a:solidFill>
                  <a:schemeClr val="tx1">
                    <a:lumMod val="95000"/>
                  </a:schemeClr>
                </a:solidFill>
              </a:rPr>
              <a:t>Hay una inclinacion hacia a teoria intermedia con la expresion “cuando sea exigible”… del articulo 80 de la ley</a:t>
            </a:r>
          </a:p>
          <a:p>
            <a:pPr marL="685800" lvl="1" indent="-228600" rtl="0">
              <a:spcBef>
                <a:spcPts val="500"/>
              </a:spcBef>
              <a:spcAft>
                <a:spcPts val="0"/>
              </a:spcAft>
              <a:buSzPts val="1800"/>
              <a:buChar char="•"/>
            </a:pPr>
            <a:r>
              <a:rPr lang="es-MX" sz="2000">
                <a:solidFill>
                  <a:schemeClr val="tx1">
                    <a:lumMod val="95000"/>
                  </a:schemeClr>
                </a:solidFill>
              </a:rPr>
              <a:t>Solo habilita a pedir la quiebra al acreedor “cuyo credito sea exigible”</a:t>
            </a:r>
          </a:p>
          <a:p>
            <a:pPr marL="685800" lvl="1" indent="-228600" rtl="0">
              <a:spcBef>
                <a:spcPts val="500"/>
              </a:spcBef>
              <a:spcAft>
                <a:spcPts val="0"/>
              </a:spcAft>
              <a:buSzPts val="1800"/>
              <a:buChar char="•"/>
            </a:pPr>
            <a:r>
              <a:rPr lang="es-MX" sz="2000">
                <a:solidFill>
                  <a:schemeClr val="tx1">
                    <a:lumMod val="95000"/>
                  </a:schemeClr>
                </a:solidFill>
              </a:rPr>
              <a:t>En la quiebra necesaria, el presupuesto de declaracion exige incumplimiento de la acreencia del solicitante </a:t>
            </a:r>
          </a:p>
          <a:p>
            <a:pPr marL="685800" lvl="1" indent="-228600" rtl="0">
              <a:spcBef>
                <a:spcPts val="500"/>
              </a:spcBef>
              <a:spcAft>
                <a:spcPts val="0"/>
              </a:spcAft>
              <a:buSzPts val="1800"/>
              <a:buChar char="•"/>
            </a:pPr>
            <a:r>
              <a:rPr lang="es-MX" sz="2000">
                <a:solidFill>
                  <a:schemeClr val="tx1">
                    <a:lumMod val="95000"/>
                  </a:schemeClr>
                </a:solidFill>
              </a:rPr>
              <a:t>En este caso no puede haber quiebra sin incumplimiento </a:t>
            </a:r>
          </a:p>
          <a:p>
            <a:pPr marL="228600" lvl="0" indent="-101600" rtl="0">
              <a:spcBef>
                <a:spcPts val="1000"/>
              </a:spcBef>
              <a:spcAft>
                <a:spcPts val="0"/>
              </a:spcAft>
              <a:buSzPts val="2000"/>
              <a:buNone/>
            </a:pPr>
            <a:endParaRPr lang="es-MX" sz="2000">
              <a:solidFill>
                <a:schemeClr val="tx1">
                  <a:lumMod val="95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AR"/>
              <a:t>CONCURSO PREVENTIVO</a:t>
            </a:r>
            <a:endParaRPr/>
          </a:p>
        </p:txBody>
      </p:sp>
      <p:sp>
        <p:nvSpPr>
          <p:cNvPr id="168" name="Google Shape;168;p11"/>
          <p:cNvSpPr txBox="1">
            <a:spLocks noGrp="1"/>
          </p:cNvSpPr>
          <p:nvPr>
            <p:ph idx="1"/>
          </p:nvPr>
        </p:nvSpPr>
        <p:spPr>
          <a:xfrm>
            <a:off x="1451580" y="2015732"/>
            <a:ext cx="3838878" cy="596839"/>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120000"/>
              </a:lnSpc>
              <a:spcBef>
                <a:spcPts val="0"/>
              </a:spcBef>
              <a:spcAft>
                <a:spcPts val="0"/>
              </a:spcAft>
              <a:buSzPts val="2000"/>
              <a:buChar char="•"/>
            </a:pPr>
            <a:r>
              <a:rPr lang="es-AR"/>
              <a:t>PRESUPUESTOS NECESARIOS</a:t>
            </a:r>
            <a:endParaRPr/>
          </a:p>
        </p:txBody>
      </p:sp>
      <p:sp>
        <p:nvSpPr>
          <p:cNvPr id="169" name="Google Shape;169;p11"/>
          <p:cNvSpPr txBox="1"/>
          <p:nvPr/>
        </p:nvSpPr>
        <p:spPr>
          <a:xfrm>
            <a:off x="3167743" y="2928257"/>
            <a:ext cx="3516086" cy="369332"/>
          </a:xfrm>
          <a:prstGeom prst="rect">
            <a:avLst/>
          </a:prstGeom>
          <a:solidFill>
            <a:schemeClr val="accent2"/>
          </a:solidFill>
          <a:ln w="222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a:solidFill>
                  <a:schemeClr val="lt1"/>
                </a:solidFill>
                <a:latin typeface="Gill Sans"/>
                <a:ea typeface="Gill Sans"/>
                <a:cs typeface="Gill Sans"/>
                <a:sym typeface="Gill Sans"/>
              </a:rPr>
              <a:t>PRESUPUESTO OBJETIVO</a:t>
            </a:r>
            <a:endParaRPr/>
          </a:p>
        </p:txBody>
      </p:sp>
      <p:sp>
        <p:nvSpPr>
          <p:cNvPr id="170" name="Google Shape;170;p11"/>
          <p:cNvSpPr txBox="1"/>
          <p:nvPr/>
        </p:nvSpPr>
        <p:spPr>
          <a:xfrm>
            <a:off x="3167743" y="3535874"/>
            <a:ext cx="3516086" cy="369332"/>
          </a:xfrm>
          <a:prstGeom prst="rect">
            <a:avLst/>
          </a:prstGeom>
          <a:solidFill>
            <a:schemeClr val="accent2"/>
          </a:solidFill>
          <a:ln w="222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a:solidFill>
                  <a:schemeClr val="lt1"/>
                </a:solidFill>
                <a:latin typeface="Gill Sans"/>
                <a:ea typeface="Gill Sans"/>
                <a:cs typeface="Gill Sans"/>
                <a:sym typeface="Gill Sans"/>
              </a:rPr>
              <a:t>PRESUPUESTO SUBJETIVO</a:t>
            </a:r>
            <a:endParaRPr/>
          </a:p>
        </p:txBody>
      </p:sp>
      <p:sp>
        <p:nvSpPr>
          <p:cNvPr id="171" name="Google Shape;171;p11"/>
          <p:cNvSpPr txBox="1"/>
          <p:nvPr/>
        </p:nvSpPr>
        <p:spPr>
          <a:xfrm>
            <a:off x="2677886" y="4950208"/>
            <a:ext cx="4561114" cy="369332"/>
          </a:xfrm>
          <a:prstGeom prst="rect">
            <a:avLst/>
          </a:prstGeom>
          <a:solidFill>
            <a:schemeClr val="accent2"/>
          </a:solidFill>
          <a:ln w="222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a:solidFill>
                  <a:schemeClr val="lt1"/>
                </a:solidFill>
                <a:latin typeface="Gill Sans"/>
                <a:ea typeface="Gill Sans"/>
                <a:cs typeface="Gill Sans"/>
                <a:sym typeface="Gill Sans"/>
              </a:rPr>
              <a:t>REQUISITOS FORMALES ARTICULO 11</a:t>
            </a:r>
            <a:endParaRPr/>
          </a:p>
        </p:txBody>
      </p:sp>
      <p:sp>
        <p:nvSpPr>
          <p:cNvPr id="172" name="Google Shape;172;p11"/>
          <p:cNvSpPr/>
          <p:nvPr/>
        </p:nvSpPr>
        <p:spPr>
          <a:xfrm>
            <a:off x="2677886" y="2612571"/>
            <a:ext cx="108857" cy="1447800"/>
          </a:xfrm>
          <a:prstGeom prst="leftBracket">
            <a:avLst>
              <a:gd name="adj" fmla="val 8333"/>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73" name="Google Shape;173;p11"/>
          <p:cNvSpPr/>
          <p:nvPr/>
        </p:nvSpPr>
        <p:spPr>
          <a:xfrm>
            <a:off x="4876801" y="4278086"/>
            <a:ext cx="413657" cy="413657"/>
          </a:xfrm>
          <a:prstGeom prst="mathPlus">
            <a:avLst>
              <a:gd name="adj1" fmla="val 23520"/>
            </a:avLst>
          </a:prstGeom>
          <a:solidFill>
            <a:schemeClr val="accent1"/>
          </a:solidFill>
          <a:ln w="15875" cap="flat" cmpd="sng">
            <a:solidFill>
              <a:srgbClr val="85153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AR"/>
              <a:t>SUJETOS COMPRENDIDOS</a:t>
            </a:r>
            <a:endParaRPr/>
          </a:p>
        </p:txBody>
      </p:sp>
      <p:sp>
        <p:nvSpPr>
          <p:cNvPr id="179" name="Google Shape;179;p12"/>
          <p:cNvSpPr txBox="1">
            <a:spLocks noGrp="1"/>
          </p:cNvSpPr>
          <p:nvPr>
            <p:ph idx="1"/>
          </p:nvPr>
        </p:nvSpPr>
        <p:spPr>
          <a:xfrm>
            <a:off x="1451579" y="2015732"/>
            <a:ext cx="9603275" cy="3450613"/>
          </a:xfrm>
          <a:prstGeom prst="rect">
            <a:avLst/>
          </a:prstGeom>
          <a:noFill/>
          <a:ln>
            <a:noFill/>
          </a:ln>
        </p:spPr>
        <p:txBody>
          <a:bodyPr spcFirstLastPara="1" wrap="square" lIns="91425" tIns="45700" rIns="91425" bIns="45700" anchor="t" anchorCtr="0">
            <a:normAutofit fontScale="62500" lnSpcReduction="20000"/>
          </a:bodyPr>
          <a:lstStyle/>
          <a:p>
            <a:pPr marL="228600" lvl="0" indent="-228600" algn="l" rtl="0">
              <a:lnSpc>
                <a:spcPct val="120000"/>
              </a:lnSpc>
              <a:spcBef>
                <a:spcPts val="0"/>
              </a:spcBef>
              <a:spcAft>
                <a:spcPts val="0"/>
              </a:spcAft>
              <a:buSzPct val="100000"/>
              <a:buChar char="•"/>
            </a:pPr>
            <a:r>
              <a:rPr lang="es-AR"/>
              <a:t>ARTICULO 2°.- Sujetos comprendidos. Pueden ser declaradas en concurso las personas de existencia visible, las de existencia ideal de carácter privado y aquellas sociedades en las que el Estado Nacional, Provincial o municipal sea parte, cualquiera sea el porcentaje de su participación.</a:t>
            </a:r>
            <a:endParaRPr/>
          </a:p>
          <a:p>
            <a:pPr marL="228600" lvl="0" indent="-228600" algn="l" rtl="0">
              <a:lnSpc>
                <a:spcPct val="120000"/>
              </a:lnSpc>
              <a:spcBef>
                <a:spcPts val="1000"/>
              </a:spcBef>
              <a:spcAft>
                <a:spcPts val="0"/>
              </a:spcAft>
              <a:buSzPct val="100000"/>
              <a:buChar char="•"/>
            </a:pPr>
            <a:r>
              <a:rPr lang="es-AR"/>
              <a:t>Se consideran comprendidos:</a:t>
            </a:r>
            <a:endParaRPr/>
          </a:p>
          <a:p>
            <a:pPr marL="228600" lvl="0" indent="-228600" algn="l" rtl="0">
              <a:lnSpc>
                <a:spcPct val="120000"/>
              </a:lnSpc>
              <a:spcBef>
                <a:spcPts val="1000"/>
              </a:spcBef>
              <a:spcAft>
                <a:spcPts val="0"/>
              </a:spcAft>
              <a:buSzPct val="100000"/>
              <a:buChar char="•"/>
            </a:pPr>
            <a:r>
              <a:rPr lang="es-AR"/>
              <a:t>1) El patrimonio del fallecido, mientras se mantenga separado del patrimonio de sucesores.</a:t>
            </a:r>
            <a:endParaRPr/>
          </a:p>
          <a:p>
            <a:pPr marL="228600" lvl="0" indent="-228600" algn="l" rtl="0">
              <a:lnSpc>
                <a:spcPct val="120000"/>
              </a:lnSpc>
              <a:spcBef>
                <a:spcPts val="1000"/>
              </a:spcBef>
              <a:spcAft>
                <a:spcPts val="0"/>
              </a:spcAft>
              <a:buSzPct val="100000"/>
              <a:buChar char="•"/>
            </a:pPr>
            <a:r>
              <a:rPr lang="es-AR"/>
              <a:t>2) Los deudores domiciliados en el extranjero respecto de bienes existentes en el país.</a:t>
            </a:r>
            <a:endParaRPr/>
          </a:p>
          <a:p>
            <a:pPr marL="228600" lvl="0" indent="-228600" algn="l" rtl="0">
              <a:lnSpc>
                <a:spcPct val="120000"/>
              </a:lnSpc>
              <a:spcBef>
                <a:spcPts val="1000"/>
              </a:spcBef>
              <a:spcAft>
                <a:spcPts val="0"/>
              </a:spcAft>
              <a:buSzPct val="100000"/>
              <a:buChar char="•"/>
            </a:pPr>
            <a:r>
              <a:rPr lang="es-AR"/>
              <a:t>No son susceptibles de ser declaradas en concurso, las personas reguladas por Leyes Nros. 20.091, 20.321 y 24.241, así como las excluidas por leyes especiales</a:t>
            </a:r>
            <a:endParaRPr/>
          </a:p>
          <a:p>
            <a:pPr marL="228600" lvl="0" indent="-111125" algn="l" rtl="0">
              <a:lnSpc>
                <a:spcPct val="120000"/>
              </a:lnSpc>
              <a:spcBef>
                <a:spcPts val="1000"/>
              </a:spcBef>
              <a:spcAft>
                <a:spcPts val="0"/>
              </a:spcAft>
              <a:buSzPct val="1000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83"/>
        <p:cNvGrpSpPr/>
        <p:nvPr/>
      </p:nvGrpSpPr>
      <p:grpSpPr>
        <a:xfrm>
          <a:off x="0" y="0"/>
          <a:ext cx="0" cy="0"/>
          <a:chOff x="0" y="0"/>
          <a:chExt cx="0" cy="0"/>
        </a:xfrm>
      </p:grpSpPr>
      <p:sp useBgFill="1">
        <p:nvSpPr>
          <p:cNvPr id="190" name="Rectangle 189">
            <a:extLst>
              <a:ext uri="{FF2B5EF4-FFF2-40B4-BE49-F238E27FC236}">
                <a16:creationId xmlns:a16="http://schemas.microsoft.com/office/drawing/2014/main" id="{BD4E11C7-7BD5-4045-AC27-3F529BEC7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4" name="Google Shape;184;p13"/>
          <p:cNvSpPr txBox="1">
            <a:spLocks noGrp="1"/>
          </p:cNvSpPr>
          <p:nvPr>
            <p:ph type="title"/>
          </p:nvPr>
        </p:nvSpPr>
        <p:spPr>
          <a:xfrm>
            <a:off x="838200" y="1115786"/>
            <a:ext cx="3473851" cy="4626428"/>
          </a:xfrm>
          <a:prstGeom prst="rect">
            <a:avLst/>
          </a:prstGeom>
          <a:effectLst/>
        </p:spPr>
        <p:txBody>
          <a:bodyPr spcFirstLastPara="1" lIns="91425" tIns="45700" rIns="91425" bIns="45700" anchor="ctr" anchorCtr="0">
            <a:normAutofit/>
          </a:bodyPr>
          <a:lstStyle/>
          <a:p>
            <a:pPr marL="0" lvl="0" indent="0" algn="r" rtl="0">
              <a:spcBef>
                <a:spcPts val="0"/>
              </a:spcBef>
              <a:spcAft>
                <a:spcPts val="0"/>
              </a:spcAft>
              <a:buClr>
                <a:schemeClr val="dk1"/>
              </a:buClr>
              <a:buSzPts val="3200"/>
              <a:buFont typeface="Gill Sans"/>
              <a:buNone/>
            </a:pPr>
            <a:r>
              <a:rPr lang="es-AR" sz="3400">
                <a:solidFill>
                  <a:schemeClr val="tx1">
                    <a:lumMod val="95000"/>
                  </a:schemeClr>
                </a:solidFill>
              </a:rPr>
              <a:t>SUJETOS COMPRENDIDOS</a:t>
            </a:r>
          </a:p>
        </p:txBody>
      </p:sp>
      <p:cxnSp>
        <p:nvCxnSpPr>
          <p:cNvPr id="192" name="Straight Connector 191">
            <a:extLst>
              <a:ext uri="{FF2B5EF4-FFF2-40B4-BE49-F238E27FC236}">
                <a16:creationId xmlns:a16="http://schemas.microsoft.com/office/drawing/2014/main" id="{21FCCE20-1E4F-44FF-87B4-379D391A2D1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32907"/>
            <a:ext cx="0" cy="279218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5" name="Google Shape;185;p13"/>
          <p:cNvSpPr txBox="1">
            <a:spLocks noGrp="1"/>
          </p:cNvSpPr>
          <p:nvPr>
            <p:ph idx="1"/>
          </p:nvPr>
        </p:nvSpPr>
        <p:spPr>
          <a:xfrm>
            <a:off x="4996543" y="1115786"/>
            <a:ext cx="5713790" cy="4626428"/>
          </a:xfrm>
          <a:prstGeom prst="rect">
            <a:avLst/>
          </a:prstGeom>
        </p:spPr>
        <p:txBody>
          <a:bodyPr spcFirstLastPara="1" lIns="91425" tIns="45700" rIns="91425" bIns="45700" anchor="ctr" anchorCtr="0">
            <a:normAutofit/>
          </a:bodyPr>
          <a:lstStyle/>
          <a:p>
            <a:pPr marL="228600" lvl="0" indent="-228600" rtl="0">
              <a:spcBef>
                <a:spcPts val="0"/>
              </a:spcBef>
              <a:spcAft>
                <a:spcPts val="0"/>
              </a:spcAft>
              <a:buSzPct val="100000"/>
              <a:buChar char="•"/>
            </a:pPr>
            <a:r>
              <a:rPr lang="es-MX" sz="1300">
                <a:solidFill>
                  <a:schemeClr val="tx1">
                    <a:lumMod val="95000"/>
                  </a:schemeClr>
                </a:solidFill>
              </a:rPr>
              <a:t>La LCQ hace referencia a personas de carácter ideal. El CCCN las reemplazo por personas juridicas privadas y las detalla en el articulo 148</a:t>
            </a:r>
          </a:p>
          <a:p>
            <a:pPr marL="0" lvl="0" indent="0" rtl="0">
              <a:spcBef>
                <a:spcPts val="1000"/>
              </a:spcBef>
              <a:spcAft>
                <a:spcPts val="0"/>
              </a:spcAft>
              <a:buSzPct val="100000"/>
              <a:buNone/>
            </a:pPr>
            <a:r>
              <a:rPr lang="es-MX" sz="1300">
                <a:solidFill>
                  <a:schemeClr val="tx1">
                    <a:lumMod val="95000"/>
                  </a:schemeClr>
                </a:solidFill>
              </a:rPr>
              <a:t>ARTICULO 148.- Personas jurídicas privadas. Son personas jurídicas privadas: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a) las sociedades;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b) las asociaciones civiles;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c) las simples asociaciones;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d) las fundaciones;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e) las iglesias, confesiones, comunidades o entidades religiosas;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f) las mutuales;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g) las cooperativas;</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h) el consorcio de propiedad horizontal;</a:t>
            </a:r>
            <a:br>
              <a:rPr lang="es-MX" sz="1300">
                <a:solidFill>
                  <a:schemeClr val="tx1">
                    <a:lumMod val="95000"/>
                  </a:schemeClr>
                </a:solidFill>
              </a:rPr>
            </a:br>
            <a:br>
              <a:rPr lang="es-MX" sz="1300">
                <a:solidFill>
                  <a:schemeClr val="tx1">
                    <a:lumMod val="95000"/>
                  </a:schemeClr>
                </a:solidFill>
              </a:rPr>
            </a:br>
            <a:r>
              <a:rPr lang="es-MX" sz="1300">
                <a:solidFill>
                  <a:schemeClr val="tx1">
                    <a:lumMod val="95000"/>
                  </a:schemeClr>
                </a:solidFill>
              </a:rPr>
              <a:t>i) toda otra contemplada en disposiciones de este Código o en otras leyes y cuyo carácter de tal se establece o resulta de su finalidad y normas de funcionamiento.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AR"/>
              <a:t>PERSONAS EXCLUIDAS</a:t>
            </a:r>
            <a:endParaRPr/>
          </a:p>
        </p:txBody>
      </p:sp>
      <p:sp>
        <p:nvSpPr>
          <p:cNvPr id="191" name="Google Shape;191;p14"/>
          <p:cNvSpPr txBox="1">
            <a:spLocks noGrp="1"/>
          </p:cNvSpPr>
          <p:nvPr>
            <p:ph idx="1"/>
          </p:nvPr>
        </p:nvSpPr>
        <p:spPr>
          <a:xfrm>
            <a:off x="1451579" y="2015732"/>
            <a:ext cx="9603275" cy="345061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20000"/>
              </a:lnSpc>
              <a:spcBef>
                <a:spcPts val="0"/>
              </a:spcBef>
              <a:spcAft>
                <a:spcPts val="0"/>
              </a:spcAft>
              <a:buSzPts val="2000"/>
              <a:buChar char="•"/>
            </a:pPr>
            <a:r>
              <a:rPr lang="es-AR"/>
              <a:t>EXCLUIDAS DE MANERA DIRECTA LAS COMPAÑIAS ASEGURADORAS – LEY 20091</a:t>
            </a:r>
            <a:endParaRPr/>
          </a:p>
          <a:p>
            <a:pPr marL="228600" lvl="0" indent="-228600" algn="l" rtl="0">
              <a:lnSpc>
                <a:spcPct val="120000"/>
              </a:lnSpc>
              <a:spcBef>
                <a:spcPts val="1000"/>
              </a:spcBef>
              <a:spcAft>
                <a:spcPts val="0"/>
              </a:spcAft>
              <a:buSzPts val="2000"/>
              <a:buChar char="•"/>
            </a:pPr>
            <a:r>
              <a:rPr lang="es-AR"/>
              <a:t>LAS DOS EXCLUSIONES restantes previstas en el articulo han perdido vigencia</a:t>
            </a:r>
            <a:endParaRPr/>
          </a:p>
          <a:p>
            <a:pPr marL="685800" lvl="1" indent="-228600" algn="l" rtl="0">
              <a:lnSpc>
                <a:spcPct val="120000"/>
              </a:lnSpc>
              <a:spcBef>
                <a:spcPts val="500"/>
              </a:spcBef>
              <a:spcAft>
                <a:spcPts val="0"/>
              </a:spcAft>
              <a:buSzPts val="1800"/>
              <a:buChar char="•"/>
            </a:pPr>
            <a:r>
              <a:rPr lang="es-AR"/>
              <a:t>Las mutuales (ley 20321) expresamente incluidas ( “ARTICULO 37.- Las mutuales quedan comprendidas en el régimen de la Ley N°24.522.”)</a:t>
            </a:r>
            <a:endParaRPr/>
          </a:p>
          <a:p>
            <a:pPr marL="685800" lvl="1" indent="-228600" algn="l" rtl="0">
              <a:lnSpc>
                <a:spcPct val="120000"/>
              </a:lnSpc>
              <a:spcBef>
                <a:spcPts val="500"/>
              </a:spcBef>
              <a:spcAft>
                <a:spcPts val="0"/>
              </a:spcAft>
              <a:buSzPts val="1800"/>
              <a:buChar char="•"/>
            </a:pPr>
            <a:r>
              <a:rPr lang="es-AR"/>
              <a:t>Las AFJP (ley 24241) han desaparecido del escenario de la seguridad social</a:t>
            </a:r>
            <a:endParaRPr/>
          </a:p>
        </p:txBody>
      </p:sp>
      <p:sp>
        <p:nvSpPr>
          <p:cNvPr id="192" name="Google Shape;192;p14"/>
          <p:cNvSpPr txBox="1"/>
          <p:nvPr/>
        </p:nvSpPr>
        <p:spPr>
          <a:xfrm>
            <a:off x="664029" y="4876800"/>
            <a:ext cx="10199914" cy="1200329"/>
          </a:xfrm>
          <a:prstGeom prst="rect">
            <a:avLst/>
          </a:prstGeom>
          <a:gradFill>
            <a:gsLst>
              <a:gs pos="0">
                <a:srgbClr val="E9CED1"/>
              </a:gs>
              <a:gs pos="100000">
                <a:srgbClr val="CD7D87">
                  <a:alpha val="91764"/>
                </a:srgbClr>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AR" sz="1800">
                <a:solidFill>
                  <a:schemeClr val="dk1"/>
                </a:solidFill>
                <a:latin typeface="Gill Sans"/>
                <a:ea typeface="Gill Sans"/>
                <a:cs typeface="Gill Sans"/>
                <a:sym typeface="Gill Sans"/>
              </a:rPr>
              <a:t>"Las aseguradoras son entes insusceptibles de concurso en virtud de lo dispuesto por la ley 20.091, la ley concursa1 y la exposición de motivos de la ley 22.917" </a:t>
            </a:r>
            <a:r>
              <a:rPr lang="es-AR" sz="1800" b="1">
                <a:solidFill>
                  <a:schemeClr val="dk1"/>
                </a:solidFill>
                <a:latin typeface="Gill Sans"/>
                <a:ea typeface="Gill Sans"/>
                <a:cs typeface="Gill Sans"/>
                <a:sym typeface="Gill Sans"/>
              </a:rPr>
              <a:t>(CNCom, Sala E,10/5/00,</a:t>
            </a:r>
            <a:r>
              <a:rPr lang="es-AR" sz="1800" b="1" i="1">
                <a:solidFill>
                  <a:schemeClr val="dk1"/>
                </a:solidFill>
                <a:latin typeface="Gill Sans"/>
                <a:ea typeface="Gill Sans"/>
                <a:cs typeface="Gill Sans"/>
                <a:sym typeface="Gill Sans"/>
              </a:rPr>
              <a:t>LL, </a:t>
            </a:r>
            <a:r>
              <a:rPr lang="es-AR" sz="1800">
                <a:solidFill>
                  <a:schemeClr val="dk1"/>
                </a:solidFill>
                <a:latin typeface="Gill Sans"/>
                <a:ea typeface="Gill Sans"/>
                <a:cs typeface="Gill Sans"/>
                <a:sym typeface="Gill Sans"/>
              </a:rPr>
              <a:t>2000-E-57, </a:t>
            </a:r>
            <a:r>
              <a:rPr lang="es-AR" sz="1800" b="1">
                <a:solidFill>
                  <a:schemeClr val="dk1"/>
                </a:solidFill>
                <a:latin typeface="Gill Sans"/>
                <a:ea typeface="Gill Sans"/>
                <a:cs typeface="Gill Sans"/>
                <a:sym typeface="Gill Sans"/>
              </a:rPr>
              <a:t>y </a:t>
            </a:r>
            <a:r>
              <a:rPr lang="es-AR" sz="1800" b="1" i="1">
                <a:solidFill>
                  <a:schemeClr val="dk1"/>
                </a:solidFill>
                <a:latin typeface="Gill Sans"/>
                <a:ea typeface="Gill Sans"/>
                <a:cs typeface="Gill Sans"/>
                <a:sym typeface="Gill Sans"/>
              </a:rPr>
              <a:t>DJ,</a:t>
            </a:r>
            <a:r>
              <a:rPr lang="es-AR" sz="1800">
                <a:solidFill>
                  <a:schemeClr val="dk1"/>
                </a:solidFill>
                <a:latin typeface="Gill Sans"/>
                <a:ea typeface="Gill Sans"/>
                <a:cs typeface="Gill Sans"/>
                <a:sym typeface="Gill Sans"/>
              </a:rPr>
              <a:t>2003-3-430). </a:t>
            </a:r>
            <a:endParaRPr/>
          </a:p>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3200"/>
              <a:buFont typeface="Gill Sans"/>
              <a:buNone/>
            </a:pPr>
            <a:r>
              <a:rPr lang="es-AR"/>
              <a:t>EXCLUIDAS POR REGIMENES ESPECIALES</a:t>
            </a:r>
            <a:endParaRPr/>
          </a:p>
        </p:txBody>
      </p:sp>
      <p:sp>
        <p:nvSpPr>
          <p:cNvPr id="198" name="Google Shape;198;p15"/>
          <p:cNvSpPr txBox="1">
            <a:spLocks noGrp="1"/>
          </p:cNvSpPr>
          <p:nvPr>
            <p:ph idx="1"/>
          </p:nvPr>
        </p:nvSpPr>
        <p:spPr>
          <a:xfrm>
            <a:off x="177950" y="2222561"/>
            <a:ext cx="11741907" cy="4091153"/>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120000"/>
              </a:lnSpc>
              <a:spcBef>
                <a:spcPts val="0"/>
              </a:spcBef>
              <a:spcAft>
                <a:spcPts val="0"/>
              </a:spcAft>
              <a:buSzPct val="100000"/>
              <a:buChar char="•"/>
            </a:pPr>
            <a:r>
              <a:rPr lang="es-AR" dirty="0"/>
              <a:t>ENTIDADES FINANCIERAS (Ley 24144)</a:t>
            </a:r>
            <a:endParaRPr dirty="0"/>
          </a:p>
          <a:p>
            <a:pPr marL="228600" lvl="0" indent="-228600" algn="l" rtl="0">
              <a:lnSpc>
                <a:spcPct val="120000"/>
              </a:lnSpc>
              <a:spcBef>
                <a:spcPts val="1000"/>
              </a:spcBef>
              <a:spcAft>
                <a:spcPts val="0"/>
              </a:spcAft>
              <a:buSzPct val="100000"/>
              <a:buChar char="•"/>
            </a:pPr>
            <a:r>
              <a:rPr lang="es-AR" dirty="0"/>
              <a:t>ART (Ley 24557)</a:t>
            </a:r>
            <a:endParaRPr dirty="0"/>
          </a:p>
          <a:p>
            <a:pPr marL="228600" lvl="0" indent="-228600" algn="l" rtl="0">
              <a:lnSpc>
                <a:spcPct val="120000"/>
              </a:lnSpc>
              <a:spcBef>
                <a:spcPts val="1000"/>
              </a:spcBef>
              <a:spcAft>
                <a:spcPts val="0"/>
              </a:spcAft>
              <a:buSzPct val="100000"/>
              <a:buChar char="•"/>
            </a:pPr>
            <a:r>
              <a:rPr lang="es-AR" dirty="0"/>
              <a:t>Las personas </a:t>
            </a:r>
            <a:r>
              <a:rPr lang="es-AR" dirty="0" err="1"/>
              <a:t>juridicas</a:t>
            </a:r>
            <a:r>
              <a:rPr lang="es-AR" dirty="0"/>
              <a:t> publicas (articulo 146 CCCN)</a:t>
            </a:r>
            <a:endParaRPr dirty="0"/>
          </a:p>
          <a:p>
            <a:pPr marL="685800" lvl="1" indent="-228600" algn="l" rtl="0">
              <a:lnSpc>
                <a:spcPct val="120000"/>
              </a:lnSpc>
              <a:spcBef>
                <a:spcPts val="500"/>
              </a:spcBef>
              <a:spcAft>
                <a:spcPts val="0"/>
              </a:spcAft>
              <a:buSzPct val="100000"/>
              <a:buChar char="•"/>
            </a:pPr>
            <a:r>
              <a:rPr lang="es-AR" dirty="0"/>
              <a:t>ARTICULO 146.- Personas jurídicas públicas. Son personas jurídicas públicas:</a:t>
            </a:r>
            <a:br>
              <a:rPr lang="es-AR" dirty="0"/>
            </a:br>
            <a:br>
              <a:rPr lang="es-AR" dirty="0"/>
            </a:br>
            <a:r>
              <a:rPr lang="es-AR" dirty="0"/>
              <a:t>a) el Estado nacional, las Provincias, la Ciudad Autónoma de Buenos Aires, los municipios, las entidades autárquicas y las demás organizaciones constituidas en la República a las que el ordenamiento jurídico atribuya ese carácter;</a:t>
            </a:r>
            <a:br>
              <a:rPr lang="es-AR" dirty="0"/>
            </a:br>
            <a:br>
              <a:rPr lang="es-AR" dirty="0"/>
            </a:br>
            <a:r>
              <a:rPr lang="es-AR" dirty="0"/>
              <a:t>b) los Estados extranjeros, las organizaciones a las que el derecho internacional público reconozca personalidad jurídica y toda otra persona jurídica constituida en el extranjero cuyo carácter público resulte de su derecho aplicable;</a:t>
            </a:r>
            <a:br>
              <a:rPr lang="es-AR" dirty="0"/>
            </a:br>
            <a:br>
              <a:rPr lang="es-AR" dirty="0"/>
            </a:br>
            <a:r>
              <a:rPr lang="es-AR" dirty="0"/>
              <a:t>c) la Iglesia Católica.</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02"/>
        <p:cNvGrpSpPr/>
        <p:nvPr/>
      </p:nvGrpSpPr>
      <p:grpSpPr>
        <a:xfrm>
          <a:off x="0" y="0"/>
          <a:ext cx="0" cy="0"/>
          <a:chOff x="0" y="0"/>
          <a:chExt cx="0" cy="0"/>
        </a:xfrm>
      </p:grpSpPr>
      <p:sp useBgFill="1">
        <p:nvSpPr>
          <p:cNvPr id="209" name="Rectangle 208">
            <a:extLst>
              <a:ext uri="{FF2B5EF4-FFF2-40B4-BE49-F238E27FC236}">
                <a16:creationId xmlns:a16="http://schemas.microsoft.com/office/drawing/2014/main" id="{6B2275DD-736C-472F-9D1B-3BA6016BF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3" name="Google Shape;203;p16"/>
          <p:cNvSpPr txBox="1">
            <a:spLocks noGrp="1"/>
          </p:cNvSpPr>
          <p:nvPr>
            <p:ph type="title"/>
          </p:nvPr>
        </p:nvSpPr>
        <p:spPr>
          <a:xfrm>
            <a:off x="838200" y="365125"/>
            <a:ext cx="7958667" cy="1137104"/>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3200"/>
              <a:buFont typeface="Gill Sans"/>
              <a:buNone/>
            </a:pPr>
            <a:r>
              <a:rPr lang="es-AR" sz="4400">
                <a:solidFill>
                  <a:schemeClr val="tx1">
                    <a:lumMod val="95000"/>
                  </a:schemeClr>
                </a:solidFill>
              </a:rPr>
              <a:t>CASOS ESPECIALES</a:t>
            </a:r>
          </a:p>
        </p:txBody>
      </p:sp>
      <p:sp>
        <p:nvSpPr>
          <p:cNvPr id="204" name="Google Shape;204;p16"/>
          <p:cNvSpPr txBox="1">
            <a:spLocks noGrp="1"/>
          </p:cNvSpPr>
          <p:nvPr>
            <p:ph idx="1"/>
          </p:nvPr>
        </p:nvSpPr>
        <p:spPr>
          <a:xfrm>
            <a:off x="838200" y="1825625"/>
            <a:ext cx="7958667" cy="4351338"/>
          </a:xfrm>
          <a:prstGeom prst="rect">
            <a:avLst/>
          </a:prstGeom>
        </p:spPr>
        <p:txBody>
          <a:bodyPr spcFirstLastPara="1" lIns="91425" tIns="45700" rIns="91425" bIns="45700" anchorCtr="0">
            <a:normAutofit/>
          </a:bodyPr>
          <a:lstStyle/>
          <a:p>
            <a:pPr marL="228600" lvl="0" indent="-228600" rtl="0">
              <a:spcBef>
                <a:spcPts val="0"/>
              </a:spcBef>
              <a:spcAft>
                <a:spcPts val="0"/>
              </a:spcAft>
              <a:buSzPts val="2000"/>
              <a:buChar char="•"/>
            </a:pPr>
            <a:r>
              <a:rPr lang="es-MX" sz="2400">
                <a:solidFill>
                  <a:schemeClr val="tx1">
                    <a:lumMod val="95000"/>
                  </a:schemeClr>
                </a:solidFill>
              </a:rPr>
              <a:t>Sociedad conyugal - no es una persona de existencia ideal de caracter privado, en terminos del articulo en analisis, y, por tanto, no es sujeto concursable </a:t>
            </a:r>
          </a:p>
          <a:p>
            <a:pPr marL="228600" lvl="0" indent="-228600" rtl="0">
              <a:spcBef>
                <a:spcPts val="1000"/>
              </a:spcBef>
              <a:spcAft>
                <a:spcPts val="0"/>
              </a:spcAft>
              <a:buSzPts val="2000"/>
              <a:buChar char="•"/>
            </a:pPr>
            <a:r>
              <a:rPr lang="es-MX" sz="2400">
                <a:solidFill>
                  <a:schemeClr val="tx1">
                    <a:lumMod val="95000"/>
                  </a:schemeClr>
                </a:solidFill>
              </a:rPr>
              <a:t>Obras Sociales - sujetos de derecho; son, por lo tanto, sujetos concursables y pueden ser declarados en quiebra </a:t>
            </a:r>
          </a:p>
          <a:p>
            <a:pPr marL="228600" lvl="0" indent="-228600" rtl="0">
              <a:spcBef>
                <a:spcPts val="1000"/>
              </a:spcBef>
              <a:spcAft>
                <a:spcPts val="0"/>
              </a:spcAft>
              <a:buSzPts val="2000"/>
              <a:buChar char="•"/>
            </a:pPr>
            <a:r>
              <a:rPr lang="es-MX" sz="2400">
                <a:solidFill>
                  <a:schemeClr val="tx1">
                    <a:lumMod val="95000"/>
                  </a:schemeClr>
                </a:solidFill>
              </a:rPr>
              <a:t>SINDICATOS - En su caracter de personas de existencia ideal de caracter privado, son también sujetos pasibles de concursarse </a:t>
            </a:r>
          </a:p>
          <a:p>
            <a:pPr marL="228600" lvl="0" indent="-101600" rtl="0">
              <a:spcBef>
                <a:spcPts val="1000"/>
              </a:spcBef>
              <a:spcAft>
                <a:spcPts val="0"/>
              </a:spcAft>
              <a:buSzPts val="2000"/>
              <a:buNone/>
            </a:pPr>
            <a:endParaRPr lang="es-MX" sz="2400">
              <a:solidFill>
                <a:schemeClr val="tx1">
                  <a:lumMod val="95000"/>
                </a:schemeClr>
              </a:solidFill>
            </a:endParaRPr>
          </a:p>
          <a:p>
            <a:pPr marL="228600" lvl="0" indent="-101600" rtl="0">
              <a:spcBef>
                <a:spcPts val="1000"/>
              </a:spcBef>
              <a:spcAft>
                <a:spcPts val="0"/>
              </a:spcAft>
              <a:buSzPts val="2000"/>
              <a:buNone/>
            </a:pPr>
            <a:endParaRPr lang="es-MX" sz="2400">
              <a:solidFill>
                <a:schemeClr val="tx1">
                  <a:lumMod val="95000"/>
                </a:schemeClr>
              </a:solidFill>
            </a:endParaRPr>
          </a:p>
        </p:txBody>
      </p:sp>
    </p:spTree>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Profundidad">
  <a:themeElements>
    <a:clrScheme name="Profundidad">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Profundidad">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fundidad">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1378</Words>
  <Application>Microsoft Office PowerPoint</Application>
  <PresentationFormat>Panorámica</PresentationFormat>
  <Paragraphs>113</Paragraphs>
  <Slides>22</Slides>
  <Notes>16</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22</vt:i4>
      </vt:variant>
    </vt:vector>
  </HeadingPairs>
  <TitlesOfParts>
    <vt:vector size="29" baseType="lpstr">
      <vt:lpstr>Aptos</vt:lpstr>
      <vt:lpstr>Arial</vt:lpstr>
      <vt:lpstr>Corbel</vt:lpstr>
      <vt:lpstr>Gill Sans</vt:lpstr>
      <vt:lpstr>Neue Haas Grotesk Text Pro</vt:lpstr>
      <vt:lpstr>Helena</vt:lpstr>
      <vt:lpstr>Profundidad</vt:lpstr>
      <vt:lpstr>Clase 1</vt:lpstr>
      <vt:lpstr>PROCESOS COLECTIVOS</vt:lpstr>
      <vt:lpstr>PATRIMONIO</vt:lpstr>
      <vt:lpstr>Ejecución Individual</vt:lpstr>
      <vt:lpstr>Ejecución colectiva</vt:lpstr>
      <vt:lpstr>CARACTERISTICAS DEL PROCESO CONCURSAL</vt:lpstr>
      <vt:lpstr>CESACIÓN DE PAGOS</vt:lpstr>
      <vt:lpstr>ARTICULO 1</vt:lpstr>
      <vt:lpstr>CESACION DE PAGOS</vt:lpstr>
      <vt:lpstr>CESACION DE PAGOS</vt:lpstr>
      <vt:lpstr>CESACION DE PAGOS</vt:lpstr>
      <vt:lpstr>CESACION DE PAGOS</vt:lpstr>
      <vt:lpstr>CESACION DE PAGOS – TEORIA MATERIALISTA</vt:lpstr>
      <vt:lpstr>CESACION DE PAGOS – TEORIA INTERMEDIA</vt:lpstr>
      <vt:lpstr>CESACION DE PAGOS – TEORIA AMPLIA</vt:lpstr>
      <vt:lpstr>CESACION DE PAGOS </vt:lpstr>
      <vt:lpstr>CONCURSO PREVENTIVO</vt:lpstr>
      <vt:lpstr>SUJETOS COMPRENDIDOS</vt:lpstr>
      <vt:lpstr>SUJETOS COMPRENDIDOS</vt:lpstr>
      <vt:lpstr>PERSONAS EXCLUIDAS</vt:lpstr>
      <vt:lpstr>EXCLUIDAS POR REGIMENES ESPECIALES</vt:lpstr>
      <vt:lpstr>CASOS ESPECIALES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maximiliano romei</dc:creator>
  <cp:lastModifiedBy>maximiliano romei</cp:lastModifiedBy>
  <cp:revision>1</cp:revision>
  <dcterms:created xsi:type="dcterms:W3CDTF">2026-05-31T23:12:02Z</dcterms:created>
  <dcterms:modified xsi:type="dcterms:W3CDTF">2026-05-31T23:20:23Z</dcterms:modified>
</cp:coreProperties>
</file>