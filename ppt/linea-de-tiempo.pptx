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 Mon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bold.fntdata"/><Relationship Id="rId10" Type="http://schemas.openxmlformats.org/officeDocument/2006/relationships/font" Target="fonts/RobotoMono-regular.fntdata"/><Relationship Id="rId13" Type="http://schemas.openxmlformats.org/officeDocument/2006/relationships/font" Target="fonts/RobotoMono-boldItalic.fntdata"/><Relationship Id="rId12" Type="http://schemas.openxmlformats.org/officeDocument/2006/relationships/font" Target="fonts/RobotoMon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3410bb4a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3410bb4a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3410bb4a3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3410bb4a3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3410bb4a3e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3410bb4a3e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solidFill>
            <a:srgbClr val="6D9EEB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chemeClr val="lt1"/>
                </a:solidFill>
              </a:rPr>
              <a:t>LÍNEA</a:t>
            </a:r>
            <a:r>
              <a:rPr lang="es">
                <a:solidFill>
                  <a:schemeClr val="lt1"/>
                </a:solidFill>
              </a:rPr>
              <a:t> DE TIEMPO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/>
          <p:nvPr/>
        </p:nvSpPr>
        <p:spPr>
          <a:xfrm>
            <a:off x="70325" y="1631675"/>
            <a:ext cx="10737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REQUISITOS DE LA DEMANDA 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(11)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1444113" y="1631675"/>
            <a:ext cx="10737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SENTENCIA DE APERTURA</a:t>
            </a: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(13 y 14)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1194550" y="1906025"/>
            <a:ext cx="198000" cy="178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799200" y="2501450"/>
            <a:ext cx="10737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DESISTIMIENTO - SANCIÓN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(30)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2799200" y="841675"/>
            <a:ext cx="10737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EFECTOS</a:t>
            </a: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 DE APERTURA (15,16,19,21, 25) 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2614000" y="1040750"/>
            <a:ext cx="117300" cy="1781700"/>
          </a:xfrm>
          <a:prstGeom prst="leftBracket">
            <a:avLst>
              <a:gd fmla="val 8333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 rot="5400000">
            <a:off x="8277375" y="2703232"/>
            <a:ext cx="551400" cy="37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4070323" y="1702025"/>
            <a:ext cx="9372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VERIFICACIÓN</a:t>
            </a: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 DE CRÉDITO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(32)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7" name="Google Shape;67;p14"/>
          <p:cNvSpPr/>
          <p:nvPr/>
        </p:nvSpPr>
        <p:spPr>
          <a:xfrm>
            <a:off x="5084950" y="1702025"/>
            <a:ext cx="9372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VERIFICACIÓN TEMPESTIVA - ETAPA NECESARIA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(32)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7176075" y="1678600"/>
            <a:ext cx="8370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INFORME INDIVIDUAL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(35)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69" name="Google Shape;69;p14"/>
          <p:cNvSpPr/>
          <p:nvPr/>
        </p:nvSpPr>
        <p:spPr>
          <a:xfrm>
            <a:off x="8070300" y="1678600"/>
            <a:ext cx="1025700" cy="7269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AUTO VERIFICATORIO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(36)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4147450" y="712675"/>
            <a:ext cx="4212300" cy="3375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DETERMINACIÓN</a:t>
            </a:r>
            <a:r>
              <a:rPr b="1" lang="es" sz="1200"/>
              <a:t> DEL PASIVO</a:t>
            </a:r>
            <a:endParaRPr b="1" sz="1200"/>
          </a:p>
        </p:txBody>
      </p:sp>
      <p:sp>
        <p:nvSpPr>
          <p:cNvPr id="71" name="Google Shape;71;p14"/>
          <p:cNvSpPr/>
          <p:nvPr/>
        </p:nvSpPr>
        <p:spPr>
          <a:xfrm>
            <a:off x="349325" y="590775"/>
            <a:ext cx="1914300" cy="4851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/>
              <a:t>APERTURA DEL PROCESO</a:t>
            </a:r>
            <a:endParaRPr b="1" sz="1200"/>
          </a:p>
        </p:txBody>
      </p:sp>
      <p:sp>
        <p:nvSpPr>
          <p:cNvPr id="72" name="Google Shape;72;p14"/>
          <p:cNvSpPr/>
          <p:nvPr/>
        </p:nvSpPr>
        <p:spPr>
          <a:xfrm>
            <a:off x="8013075" y="3495475"/>
            <a:ext cx="1025700" cy="726900"/>
          </a:xfrm>
          <a:prstGeom prst="rect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INCIDENTE DE REVISIÓN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(37)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3375800" y="1906013"/>
            <a:ext cx="497100" cy="23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6180613" y="1702025"/>
            <a:ext cx="8370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OBSERVACIONES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(34)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5" name="Google Shape;75;p14"/>
          <p:cNvSpPr/>
          <p:nvPr/>
        </p:nvSpPr>
        <p:spPr>
          <a:xfrm rot="5400000">
            <a:off x="6323425" y="2813432"/>
            <a:ext cx="551400" cy="370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4"/>
          <p:cNvSpPr/>
          <p:nvPr/>
        </p:nvSpPr>
        <p:spPr>
          <a:xfrm>
            <a:off x="6080450" y="3542350"/>
            <a:ext cx="937200" cy="726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VERIFICACIÓN TARDÍA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(56)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121900" y="1294075"/>
            <a:ext cx="10455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PROPUESTA DE CATEGORIZACIÓN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(41)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1249550" y="1294075"/>
            <a:ext cx="10455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INFORME GENERAL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(39)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2377200" y="1294075"/>
            <a:ext cx="1045500" cy="190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RESOLUCIÓN</a:t>
            </a: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 DE CATEGORIZACIÓN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(42)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290700" y="562650"/>
            <a:ext cx="2855400" cy="426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ETAPA PREPARATORIA</a:t>
            </a:r>
            <a:endParaRPr b="1"/>
          </a:p>
        </p:txBody>
      </p:sp>
      <p:sp>
        <p:nvSpPr>
          <p:cNvPr id="85" name="Google Shape;85;p15"/>
          <p:cNvSpPr/>
          <p:nvPr/>
        </p:nvSpPr>
        <p:spPr>
          <a:xfrm>
            <a:off x="3697050" y="583775"/>
            <a:ext cx="3673500" cy="426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PERÍODO DE EXCLUSIVIDAD</a:t>
            </a:r>
            <a:endParaRPr b="1"/>
          </a:p>
        </p:txBody>
      </p:sp>
      <p:sp>
        <p:nvSpPr>
          <p:cNvPr id="86" name="Google Shape;86;p15"/>
          <p:cNvSpPr/>
          <p:nvPr/>
        </p:nvSpPr>
        <p:spPr>
          <a:xfrm>
            <a:off x="3697050" y="1294075"/>
            <a:ext cx="10455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CONTENIDO Y PUBLICIDAD DE LA PROPUESTA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(43)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4834075" y="1294075"/>
            <a:ext cx="10455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AUDIENCIA INFORMATIVA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(45)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5971100" y="1294075"/>
            <a:ext cx="10854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MAYORÍAS</a:t>
            </a: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 PARA OBTENER ACUERDO </a:t>
            </a:r>
            <a:r>
              <a:rPr lang="es" sz="700">
                <a:latin typeface="Roboto Mono"/>
                <a:ea typeface="Roboto Mono"/>
                <a:cs typeface="Roboto Mono"/>
                <a:sym typeface="Roboto Mono"/>
              </a:rPr>
              <a:t>(QUIROGRAFARIOS)</a:t>
            </a:r>
            <a:endParaRPr sz="7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(45)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6929900" y="3061725"/>
            <a:ext cx="2142900" cy="1444200"/>
          </a:xfrm>
          <a:prstGeom prst="pentagon">
            <a:avLst>
              <a:gd fmla="val 105146" name="hf"/>
              <a:gd fmla="val 110557" name="vf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ACREEDORES CON PRIVILEGIO (44, 57) PUEDEN RECIBIR PROPUESTA 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/>
          <p:nvPr/>
        </p:nvSpPr>
        <p:spPr>
          <a:xfrm>
            <a:off x="547500" y="536875"/>
            <a:ext cx="3673500" cy="4266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CONCORDATO</a:t>
            </a:r>
            <a:endParaRPr b="1"/>
          </a:p>
        </p:txBody>
      </p:sp>
      <p:sp>
        <p:nvSpPr>
          <p:cNvPr id="95" name="Google Shape;95;p16"/>
          <p:cNvSpPr/>
          <p:nvPr/>
        </p:nvSpPr>
        <p:spPr>
          <a:xfrm>
            <a:off x="1298750" y="1289375"/>
            <a:ext cx="1045500" cy="190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SENTENCIA HOMOLOGATORIA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(52)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175850" y="1289375"/>
            <a:ext cx="10455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OBTENCIÓN DE CONFORMIDADES - EXISTENCIA DE ACUERDO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(49)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2421650" y="1289375"/>
            <a:ext cx="1045500" cy="190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CONCLUSIÓN DEL CONCURSO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(59)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697050" y="1289375"/>
            <a:ext cx="1045500" cy="19035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CUMPLIMIENTO DEL ACUERDO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latin typeface="Roboto Mono"/>
                <a:ea typeface="Roboto Mono"/>
                <a:cs typeface="Roboto Mono"/>
                <a:sym typeface="Roboto Mono"/>
              </a:rPr>
              <a:t>(59)</a:t>
            </a:r>
            <a:endParaRPr sz="8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75850" y="3858800"/>
            <a:ext cx="1015200" cy="843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IMPUGNACIONES (50)</a:t>
            </a:r>
            <a:endParaRPr/>
          </a:p>
        </p:txBody>
      </p:sp>
      <p:sp>
        <p:nvSpPr>
          <p:cNvPr id="100" name="Google Shape;100;p16"/>
          <p:cNvSpPr/>
          <p:nvPr/>
        </p:nvSpPr>
        <p:spPr>
          <a:xfrm rot="5400000">
            <a:off x="562650" y="3347725"/>
            <a:ext cx="290700" cy="32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6"/>
          <p:cNvSpPr/>
          <p:nvPr/>
        </p:nvSpPr>
        <p:spPr>
          <a:xfrm>
            <a:off x="1298750" y="3858800"/>
            <a:ext cx="1045500" cy="8439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NULIDAD</a:t>
            </a: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(60)</a:t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 rot="5400000">
            <a:off x="1643350" y="3347725"/>
            <a:ext cx="290700" cy="32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3697050" y="3858800"/>
            <a:ext cx="1045500" cy="843900"/>
          </a:xfrm>
          <a:prstGeom prst="rect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INCUMPLIMIENTO DEL ACUERDO</a:t>
            </a:r>
            <a:r>
              <a:rPr lang="es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(63)</a:t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 rot="5400000">
            <a:off x="4013500" y="3347725"/>
            <a:ext cx="290700" cy="32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